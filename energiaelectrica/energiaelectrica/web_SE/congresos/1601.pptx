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0"/>
  </p:notesMasterIdLst>
  <p:sldIdLst>
    <p:sldId id="311" r:id="rId2"/>
    <p:sldId id="315" r:id="rId3"/>
    <p:sldId id="341" r:id="rId4"/>
    <p:sldId id="342" r:id="rId5"/>
    <p:sldId id="343" r:id="rId6"/>
    <p:sldId id="339" r:id="rId7"/>
    <p:sldId id="340" r:id="rId8"/>
    <p:sldId id="344" r:id="rId9"/>
    <p:sldId id="318" r:id="rId10"/>
    <p:sldId id="345" r:id="rId11"/>
    <p:sldId id="331" r:id="rId12"/>
    <p:sldId id="334" r:id="rId13"/>
    <p:sldId id="335" r:id="rId14"/>
    <p:sldId id="322" r:id="rId15"/>
    <p:sldId id="336" r:id="rId16"/>
    <p:sldId id="337" r:id="rId17"/>
    <p:sldId id="338" r:id="rId18"/>
    <p:sldId id="327" r:id="rId19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FF66FF"/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37" autoAdjust="0"/>
  </p:normalViewPr>
  <p:slideViewPr>
    <p:cSldViewPr>
      <p:cViewPr>
        <p:scale>
          <a:sx n="66" d="100"/>
          <a:sy n="66" d="100"/>
        </p:scale>
        <p:origin x="102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2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472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72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</a:defRPr>
            </a:lvl1pPr>
          </a:lstStyle>
          <a:p>
            <a:pPr>
              <a:defRPr/>
            </a:pPr>
            <a:fld id="{0AE1175E-9BF8-411A-A75F-FCA5974768D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5786DA-1FA7-4086-818D-7F2960EBADC4}" type="slidenum">
              <a:rPr lang="es-ES" smtClean="0"/>
              <a:pPr/>
              <a:t>1</a:t>
            </a:fld>
            <a:endParaRPr lang="es-E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2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3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4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5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6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7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936F5-0D8A-4B7E-B88E-07DEDE566C0F}" type="slidenum">
              <a:rPr lang="es-ES" smtClean="0"/>
              <a:pPr/>
              <a:t>8</a:t>
            </a:fld>
            <a:endParaRPr lang="es-ES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B45C6-0828-4B9F-8548-77F06D5D02FF}" type="slidenum">
              <a:rPr lang="es-ES" smtClean="0"/>
              <a:pPr/>
              <a:t>9</a:t>
            </a:fld>
            <a:endParaRPr lang="es-E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EB45C6-0828-4B9F-8548-77F06D5D02FF}" type="slidenum">
              <a:rPr lang="es-ES" smtClean="0"/>
              <a:pPr/>
              <a:t>10</a:t>
            </a:fld>
            <a:endParaRPr lang="es-E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F8DE2A-16A4-4031-A06A-DA1875BB0DC8}" type="slidenum">
              <a:rPr lang="es-ES" smtClean="0"/>
              <a:pPr/>
              <a:t>11</a:t>
            </a:fld>
            <a:endParaRPr lang="es-ES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860974-EAF6-4F80-B5AD-DDC25DFD0FE4}" type="slidenum">
              <a:rPr lang="es-ES" smtClean="0"/>
              <a:pPr/>
              <a:t>12</a:t>
            </a:fld>
            <a:endParaRPr lang="es-E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CD3B06-122E-4CAC-805D-4205F4465362}" type="slidenum">
              <a:rPr lang="es-ES" smtClean="0"/>
              <a:pPr/>
              <a:t>13</a:t>
            </a:fld>
            <a:endParaRPr lang="es-E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5F9717-6A06-48E8-ADC2-207754CD56C6}" type="slidenum">
              <a:rPr lang="es-ES" smtClean="0"/>
              <a:pPr/>
              <a:t>14</a:t>
            </a:fld>
            <a:endParaRPr lang="es-E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D8CA4A-1513-4EA0-8E77-F496606F1BDE}" type="slidenum">
              <a:rPr lang="es-ES" smtClean="0"/>
              <a:pPr/>
              <a:t>15</a:t>
            </a:fld>
            <a:endParaRPr lang="es-E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86B05B-F00A-4DD5-9FC9-11E2EE59CEF7}" type="slidenum">
              <a:rPr lang="es-ES" smtClean="0"/>
              <a:pPr/>
              <a:t>16</a:t>
            </a:fld>
            <a:endParaRPr lang="es-E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8BA9A6-0CF3-46DE-A55D-109D33FE79EF}" type="slidenum">
              <a:rPr lang="es-ES" smtClean="0"/>
              <a:pPr/>
              <a:t>17</a:t>
            </a:fld>
            <a:endParaRPr lang="es-E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3D5863-B906-4AE2-8E79-96AD81EC53EE}" type="slidenum">
              <a:rPr lang="es-ES" smtClean="0"/>
              <a:pPr/>
              <a:t>18</a:t>
            </a:fld>
            <a:endParaRPr lang="es-E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-6350" y="20638"/>
            <a:ext cx="9144000" cy="6858000"/>
            <a:chOff x="0" y="0"/>
            <a:chExt cx="5760" cy="4320"/>
          </a:xfrm>
        </p:grpSpPr>
        <p:sp>
          <p:nvSpPr>
            <p:cNvPr id="5" name="Freeform 29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6" name="Freeform 30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" name="Freeform 31"/>
          <p:cNvSpPr>
            <a:spLocks/>
          </p:cNvSpPr>
          <p:nvPr/>
        </p:nvSpPr>
        <p:spPr bwMode="hidden">
          <a:xfrm>
            <a:off x="6242050" y="626903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MX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-1588" y="6034088"/>
            <a:ext cx="7845426" cy="850900"/>
            <a:chOff x="0" y="3792"/>
            <a:chExt cx="4942" cy="536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6" cy="536"/>
              <a:chOff x="2486" y="3792"/>
              <a:chExt cx="2456" cy="536"/>
            </a:xfrm>
          </p:grpSpPr>
          <p:sp>
            <p:nvSpPr>
              <p:cNvPr id="12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4" cy="529"/>
              </a:xfrm>
              <a:custGeom>
                <a:avLst/>
                <a:gdLst>
                  <a:gd name="T0" fmla="*/ 636 w 994"/>
                  <a:gd name="T1" fmla="*/ 373 h 529"/>
                  <a:gd name="T2" fmla="*/ 495 w 994"/>
                  <a:gd name="T3" fmla="*/ 370 h 529"/>
                  <a:gd name="T4" fmla="*/ 280 w 994"/>
                  <a:gd name="T5" fmla="*/ 249 h 529"/>
                  <a:gd name="T6" fmla="*/ 127 w 994"/>
                  <a:gd name="T7" fmla="*/ 66 h 529"/>
                  <a:gd name="T8" fmla="*/ 0 w 994"/>
                  <a:gd name="T9" fmla="*/ 0 h 529"/>
                  <a:gd name="T10" fmla="*/ 22 w 994"/>
                  <a:gd name="T11" fmla="*/ 26 h 529"/>
                  <a:gd name="T12" fmla="*/ 0 w 994"/>
                  <a:gd name="T13" fmla="*/ 65 h 529"/>
                  <a:gd name="T14" fmla="*/ 30 w 994"/>
                  <a:gd name="T15" fmla="*/ 119 h 529"/>
                  <a:gd name="T16" fmla="*/ 75 w 994"/>
                  <a:gd name="T17" fmla="*/ 243 h 529"/>
                  <a:gd name="T18" fmla="*/ 45 w 994"/>
                  <a:gd name="T19" fmla="*/ 422 h 529"/>
                  <a:gd name="T20" fmla="*/ 200 w 994"/>
                  <a:gd name="T21" fmla="*/ 329 h 529"/>
                  <a:gd name="T22" fmla="*/ 592 w 994"/>
                  <a:gd name="T23" fmla="*/ 527 h 529"/>
                  <a:gd name="T24" fmla="*/ 994 w 994"/>
                  <a:gd name="T25" fmla="*/ 529 h 529"/>
                  <a:gd name="T26" fmla="*/ 828 w 994"/>
                  <a:gd name="T27" fmla="*/ 473 h 529"/>
                  <a:gd name="T28" fmla="*/ 636 w 994"/>
                  <a:gd name="T29" fmla="*/ 373 h 52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94" h="529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592" y="527"/>
                    </a:lnTo>
                    <a:lnTo>
                      <a:pt x="994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3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4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5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6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</p:grpSp>
        <p:sp>
          <p:nvSpPr>
            <p:cNvPr id="11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21" name="Freeform 20"/>
            <p:cNvSpPr>
              <a:spLocks/>
            </p:cNvSpPr>
            <p:nvPr userDrawn="1"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</p:grpSp>
      <p:sp>
        <p:nvSpPr>
          <p:cNvPr id="388119" name="Rectangle 23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447800"/>
            <a:ext cx="8229600" cy="1736725"/>
          </a:xfrm>
        </p:spPr>
        <p:txBody>
          <a:bodyPr/>
          <a:lstStyle>
            <a:lvl1pPr>
              <a:defRPr sz="5400"/>
            </a:lvl1pPr>
          </a:lstStyle>
          <a:p>
            <a:r>
              <a:rPr lang="es-MX"/>
              <a:t>Haga clic para cambiar el estilo de título	</a:t>
            </a:r>
          </a:p>
        </p:txBody>
      </p:sp>
      <p:sp>
        <p:nvSpPr>
          <p:cNvPr id="388120" name="Rectangle 2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4290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s-MX"/>
              <a:t>Haga clic para modificar el estilo de subtítulo del patrón</a:t>
            </a:r>
          </a:p>
        </p:txBody>
      </p:sp>
      <p:sp>
        <p:nvSpPr>
          <p:cNvPr id="24" name="Rectangle 25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25" name="Rectangle 2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B3BFF-836E-4D4F-BE65-CC903AF8EB96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  <p:sp>
        <p:nvSpPr>
          <p:cNvPr id="26" name="Rectangle 27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5EEB3-5542-45F9-8C6A-269A1D000509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EAFBF-680A-49F8-ABEE-5A603E367DAE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A43E62-33D1-477D-8F1C-D04F802D1895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9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6D968-503A-499E-B55A-EC5A05A849FC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5B331-4BBD-4719-A890-39E4B2028ECF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4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F29AC-33E4-4C88-842F-4B88BDC030FA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C5A71-00C5-4B4D-8FF7-6FE461A0149D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19B27-D7ED-449E-9231-D3FD3485491C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AB9C55-BC4B-4B21-9F4E-1F71DBE5F040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67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67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Rectangle 2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92807-76B6-4B89-8946-1285FDE0D2D2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47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049" name="Freeform 4"/>
            <p:cNvSpPr>
              <a:spLocks/>
            </p:cNvSpPr>
            <p:nvPr/>
          </p:nvSpPr>
          <p:spPr bwMode="hidden">
            <a:xfrm>
              <a:off x="0" y="3072"/>
              <a:ext cx="5760" cy="1248"/>
            </a:xfrm>
            <a:custGeom>
              <a:avLst/>
              <a:gdLst>
                <a:gd name="T0" fmla="*/ 6027 w 6027"/>
                <a:gd name="T1" fmla="*/ 2296 h 2296"/>
                <a:gd name="T2" fmla="*/ 0 w 6027"/>
                <a:gd name="T3" fmla="*/ 2296 h 2296"/>
                <a:gd name="T4" fmla="*/ 0 w 6027"/>
                <a:gd name="T5" fmla="*/ 0 h 2296"/>
                <a:gd name="T6" fmla="*/ 6027 w 6027"/>
                <a:gd name="T7" fmla="*/ 0 h 2296"/>
                <a:gd name="T8" fmla="*/ 6027 w 6027"/>
                <a:gd name="T9" fmla="*/ 2296 h 2296"/>
                <a:gd name="T10" fmla="*/ 6027 w 6027"/>
                <a:gd name="T11" fmla="*/ 2296 h 22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387077" name="Freeform 5"/>
            <p:cNvSpPr>
              <a:spLocks/>
            </p:cNvSpPr>
            <p:nvPr/>
          </p:nvSpPr>
          <p:spPr bwMode="hidden">
            <a:xfrm>
              <a:off x="0" y="0"/>
              <a:ext cx="5760" cy="3072"/>
            </a:xfrm>
            <a:custGeom>
              <a:avLst/>
              <a:gdLst/>
              <a:ahLst/>
              <a:cxnLst>
                <a:cxn ang="0">
                  <a:pos x="6027" y="2296"/>
                </a:cxn>
                <a:cxn ang="0">
                  <a:pos x="0" y="2296"/>
                </a:cxn>
                <a:cxn ang="0">
                  <a:pos x="0" y="0"/>
                </a:cxn>
                <a:cxn ang="0">
                  <a:pos x="6027" y="0"/>
                </a:cxn>
                <a:cxn ang="0">
                  <a:pos x="6027" y="2296"/>
                </a:cxn>
                <a:cxn ang="0">
                  <a:pos x="6027" y="2296"/>
                </a:cxn>
              </a:cxnLst>
              <a:rect l="0" t="0" r="r" b="b"/>
              <a:pathLst>
                <a:path w="6027" h="2296">
                  <a:moveTo>
                    <a:pt x="6027" y="2296"/>
                  </a:moveTo>
                  <a:lnTo>
                    <a:pt x="0" y="2296"/>
                  </a:lnTo>
                  <a:lnTo>
                    <a:pt x="0" y="0"/>
                  </a:lnTo>
                  <a:lnTo>
                    <a:pt x="6027" y="0"/>
                  </a:lnTo>
                  <a:lnTo>
                    <a:pt x="6027" y="2296"/>
                  </a:lnTo>
                  <a:lnTo>
                    <a:pt x="6027" y="229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027" name="Freeform 6"/>
          <p:cNvSpPr>
            <a:spLocks/>
          </p:cNvSpPr>
          <p:nvPr/>
        </p:nvSpPr>
        <p:spPr bwMode="hidden">
          <a:xfrm>
            <a:off x="6248400" y="6262688"/>
            <a:ext cx="2895600" cy="609600"/>
          </a:xfrm>
          <a:custGeom>
            <a:avLst/>
            <a:gdLst>
              <a:gd name="T0" fmla="*/ 5748 w 5748"/>
              <a:gd name="T1" fmla="*/ 246 h 246"/>
              <a:gd name="T2" fmla="*/ 0 w 5748"/>
              <a:gd name="T3" fmla="*/ 246 h 246"/>
              <a:gd name="T4" fmla="*/ 0 w 5748"/>
              <a:gd name="T5" fmla="*/ 0 h 246"/>
              <a:gd name="T6" fmla="*/ 5748 w 5748"/>
              <a:gd name="T7" fmla="*/ 0 h 246"/>
              <a:gd name="T8" fmla="*/ 5748 w 5748"/>
              <a:gd name="T9" fmla="*/ 246 h 246"/>
              <a:gd name="T10" fmla="*/ 5748 w 5748"/>
              <a:gd name="T11" fmla="*/ 246 h 2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748" h="246">
                <a:moveTo>
                  <a:pt x="5748" y="246"/>
                </a:moveTo>
                <a:lnTo>
                  <a:pt x="0" y="246"/>
                </a:lnTo>
                <a:lnTo>
                  <a:pt x="0" y="0"/>
                </a:lnTo>
                <a:lnTo>
                  <a:pt x="5748" y="0"/>
                </a:lnTo>
                <a:lnTo>
                  <a:pt x="5748" y="246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s-MX"/>
          </a:p>
        </p:txBody>
      </p:sp>
      <p:grpSp>
        <p:nvGrpSpPr>
          <p:cNvPr id="1028" name="Group 7"/>
          <p:cNvGrpSpPr>
            <a:grpSpLocks/>
          </p:cNvGrpSpPr>
          <p:nvPr/>
        </p:nvGrpSpPr>
        <p:grpSpPr bwMode="auto">
          <a:xfrm>
            <a:off x="0" y="6019800"/>
            <a:ext cx="7848600" cy="857250"/>
            <a:chOff x="0" y="3792"/>
            <a:chExt cx="4944" cy="540"/>
          </a:xfrm>
        </p:grpSpPr>
        <p:sp>
          <p:nvSpPr>
            <p:cNvPr id="387080" name="Freeform 8"/>
            <p:cNvSpPr>
              <a:spLocks/>
            </p:cNvSpPr>
            <p:nvPr userDrawn="1"/>
          </p:nvSpPr>
          <p:spPr bwMode="ltGray">
            <a:xfrm>
              <a:off x="1488" y="3792"/>
              <a:ext cx="3240" cy="536"/>
            </a:xfrm>
            <a:custGeom>
              <a:avLst/>
              <a:gdLst/>
              <a:ahLst/>
              <a:cxnLst>
                <a:cxn ang="0">
                  <a:pos x="3132" y="469"/>
                </a:cxn>
                <a:cxn ang="0">
                  <a:pos x="2995" y="395"/>
                </a:cxn>
                <a:cxn ang="0">
                  <a:pos x="2911" y="375"/>
                </a:cxn>
                <a:cxn ang="0">
                  <a:pos x="2678" y="228"/>
                </a:cxn>
                <a:cxn ang="0">
                  <a:pos x="2553" y="74"/>
                </a:cxn>
                <a:cxn ang="0">
                  <a:pos x="2457" y="7"/>
                </a:cxn>
                <a:cxn ang="0">
                  <a:pos x="2403" y="47"/>
                </a:cxn>
                <a:cxn ang="0">
                  <a:pos x="2289" y="74"/>
                </a:cxn>
                <a:cxn ang="0">
                  <a:pos x="2134" y="74"/>
                </a:cxn>
                <a:cxn ang="0">
                  <a:pos x="2044" y="128"/>
                </a:cxn>
                <a:cxn ang="0">
                  <a:pos x="1775" y="222"/>
                </a:cxn>
                <a:cxn ang="0">
                  <a:pos x="1602" y="181"/>
                </a:cxn>
                <a:cxn ang="0">
                  <a:pos x="1560" y="101"/>
                </a:cxn>
                <a:cxn ang="0">
                  <a:pos x="1542" y="87"/>
                </a:cxn>
                <a:cxn ang="0">
                  <a:pos x="1446" y="60"/>
                </a:cxn>
                <a:cxn ang="0">
                  <a:pos x="1375" y="74"/>
                </a:cxn>
                <a:cxn ang="0">
                  <a:pos x="1309" y="87"/>
                </a:cxn>
                <a:cxn ang="0">
                  <a:pos x="1243" y="13"/>
                </a:cxn>
                <a:cxn ang="0">
                  <a:pos x="1225" y="0"/>
                </a:cxn>
                <a:cxn ang="0">
                  <a:pos x="1189" y="0"/>
                </a:cxn>
                <a:cxn ang="0">
                  <a:pos x="1106" y="34"/>
                </a:cxn>
                <a:cxn ang="0">
                  <a:pos x="1106" y="34"/>
                </a:cxn>
                <a:cxn ang="0">
                  <a:pos x="1094" y="40"/>
                </a:cxn>
                <a:cxn ang="0">
                  <a:pos x="1070" y="54"/>
                </a:cxn>
                <a:cxn ang="0">
                  <a:pos x="1034" y="74"/>
                </a:cxn>
                <a:cxn ang="0">
                  <a:pos x="1004" y="74"/>
                </a:cxn>
                <a:cxn ang="0">
                  <a:pos x="986" y="74"/>
                </a:cxn>
                <a:cxn ang="0">
                  <a:pos x="956" y="81"/>
                </a:cxn>
                <a:cxn ang="0">
                  <a:pos x="920" y="94"/>
                </a:cxn>
                <a:cxn ang="0">
                  <a:pos x="884" y="107"/>
                </a:cxn>
                <a:cxn ang="0">
                  <a:pos x="843" y="128"/>
                </a:cxn>
                <a:cxn ang="0">
                  <a:pos x="813" y="141"/>
                </a:cxn>
                <a:cxn ang="0">
                  <a:pos x="789" y="148"/>
                </a:cxn>
                <a:cxn ang="0">
                  <a:pos x="783" y="154"/>
                </a:cxn>
                <a:cxn ang="0">
                  <a:pos x="556" y="228"/>
                </a:cxn>
                <a:cxn ang="0">
                  <a:pos x="394" y="294"/>
                </a:cxn>
                <a:cxn ang="0">
                  <a:pos x="107" y="462"/>
                </a:cxn>
                <a:cxn ang="0">
                  <a:pos x="0" y="536"/>
                </a:cxn>
                <a:cxn ang="0">
                  <a:pos x="3240" y="536"/>
                </a:cxn>
                <a:cxn ang="0">
                  <a:pos x="3132" y="469"/>
                </a:cxn>
                <a:cxn ang="0">
                  <a:pos x="3132" y="469"/>
                </a:cxn>
              </a:cxnLst>
              <a:rect l="0" t="0" r="r" b="b"/>
              <a:pathLst>
                <a:path w="3240" h="536">
                  <a:moveTo>
                    <a:pt x="3132" y="469"/>
                  </a:moveTo>
                  <a:lnTo>
                    <a:pt x="2995" y="395"/>
                  </a:lnTo>
                  <a:lnTo>
                    <a:pt x="2911" y="375"/>
                  </a:lnTo>
                  <a:lnTo>
                    <a:pt x="2678" y="228"/>
                  </a:lnTo>
                  <a:lnTo>
                    <a:pt x="2553" y="74"/>
                  </a:lnTo>
                  <a:lnTo>
                    <a:pt x="2457" y="7"/>
                  </a:lnTo>
                  <a:lnTo>
                    <a:pt x="2403" y="47"/>
                  </a:lnTo>
                  <a:lnTo>
                    <a:pt x="2289" y="74"/>
                  </a:lnTo>
                  <a:lnTo>
                    <a:pt x="2134" y="74"/>
                  </a:lnTo>
                  <a:lnTo>
                    <a:pt x="2044" y="128"/>
                  </a:lnTo>
                  <a:lnTo>
                    <a:pt x="1775" y="222"/>
                  </a:lnTo>
                  <a:lnTo>
                    <a:pt x="1602" y="181"/>
                  </a:lnTo>
                  <a:lnTo>
                    <a:pt x="1560" y="101"/>
                  </a:lnTo>
                  <a:lnTo>
                    <a:pt x="1542" y="87"/>
                  </a:lnTo>
                  <a:lnTo>
                    <a:pt x="1446" y="60"/>
                  </a:lnTo>
                  <a:lnTo>
                    <a:pt x="1375" y="74"/>
                  </a:lnTo>
                  <a:lnTo>
                    <a:pt x="1309" y="87"/>
                  </a:lnTo>
                  <a:lnTo>
                    <a:pt x="1243" y="13"/>
                  </a:lnTo>
                  <a:lnTo>
                    <a:pt x="1225" y="0"/>
                  </a:lnTo>
                  <a:lnTo>
                    <a:pt x="1189" y="0"/>
                  </a:lnTo>
                  <a:lnTo>
                    <a:pt x="1106" y="34"/>
                  </a:lnTo>
                  <a:lnTo>
                    <a:pt x="1106" y="34"/>
                  </a:lnTo>
                  <a:lnTo>
                    <a:pt x="1094" y="40"/>
                  </a:lnTo>
                  <a:lnTo>
                    <a:pt x="1070" y="54"/>
                  </a:lnTo>
                  <a:lnTo>
                    <a:pt x="1034" y="74"/>
                  </a:lnTo>
                  <a:lnTo>
                    <a:pt x="1004" y="74"/>
                  </a:lnTo>
                  <a:lnTo>
                    <a:pt x="986" y="74"/>
                  </a:lnTo>
                  <a:lnTo>
                    <a:pt x="956" y="81"/>
                  </a:lnTo>
                  <a:lnTo>
                    <a:pt x="920" y="94"/>
                  </a:lnTo>
                  <a:lnTo>
                    <a:pt x="884" y="107"/>
                  </a:lnTo>
                  <a:lnTo>
                    <a:pt x="843" y="128"/>
                  </a:lnTo>
                  <a:lnTo>
                    <a:pt x="813" y="141"/>
                  </a:lnTo>
                  <a:lnTo>
                    <a:pt x="789" y="148"/>
                  </a:lnTo>
                  <a:lnTo>
                    <a:pt x="783" y="154"/>
                  </a:lnTo>
                  <a:lnTo>
                    <a:pt x="556" y="228"/>
                  </a:lnTo>
                  <a:lnTo>
                    <a:pt x="394" y="294"/>
                  </a:lnTo>
                  <a:lnTo>
                    <a:pt x="107" y="462"/>
                  </a:lnTo>
                  <a:lnTo>
                    <a:pt x="0" y="536"/>
                  </a:lnTo>
                  <a:lnTo>
                    <a:pt x="3240" y="536"/>
                  </a:lnTo>
                  <a:lnTo>
                    <a:pt x="3132" y="469"/>
                  </a:lnTo>
                  <a:lnTo>
                    <a:pt x="3132" y="469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1042" name="Group 9"/>
            <p:cNvGrpSpPr>
              <a:grpSpLocks/>
            </p:cNvGrpSpPr>
            <p:nvPr userDrawn="1"/>
          </p:nvGrpSpPr>
          <p:grpSpPr bwMode="auto">
            <a:xfrm>
              <a:off x="2486" y="3792"/>
              <a:ext cx="2458" cy="540"/>
              <a:chOff x="2486" y="3792"/>
              <a:chExt cx="2458" cy="540"/>
            </a:xfrm>
          </p:grpSpPr>
          <p:sp>
            <p:nvSpPr>
              <p:cNvPr id="1044" name="Freeform 10"/>
              <p:cNvSpPr>
                <a:spLocks/>
              </p:cNvSpPr>
              <p:nvPr userDrawn="1"/>
            </p:nvSpPr>
            <p:spPr bwMode="ltGray">
              <a:xfrm>
                <a:off x="3948" y="3799"/>
                <a:ext cx="996" cy="533"/>
              </a:xfrm>
              <a:custGeom>
                <a:avLst/>
                <a:gdLst>
                  <a:gd name="T0" fmla="*/ 636 w 996"/>
                  <a:gd name="T1" fmla="*/ 373 h 533"/>
                  <a:gd name="T2" fmla="*/ 495 w 996"/>
                  <a:gd name="T3" fmla="*/ 370 h 533"/>
                  <a:gd name="T4" fmla="*/ 280 w 996"/>
                  <a:gd name="T5" fmla="*/ 249 h 533"/>
                  <a:gd name="T6" fmla="*/ 127 w 996"/>
                  <a:gd name="T7" fmla="*/ 66 h 533"/>
                  <a:gd name="T8" fmla="*/ 0 w 996"/>
                  <a:gd name="T9" fmla="*/ 0 h 533"/>
                  <a:gd name="T10" fmla="*/ 22 w 996"/>
                  <a:gd name="T11" fmla="*/ 26 h 533"/>
                  <a:gd name="T12" fmla="*/ 0 w 996"/>
                  <a:gd name="T13" fmla="*/ 65 h 533"/>
                  <a:gd name="T14" fmla="*/ 30 w 996"/>
                  <a:gd name="T15" fmla="*/ 119 h 533"/>
                  <a:gd name="T16" fmla="*/ 75 w 996"/>
                  <a:gd name="T17" fmla="*/ 243 h 533"/>
                  <a:gd name="T18" fmla="*/ 45 w 996"/>
                  <a:gd name="T19" fmla="*/ 422 h 533"/>
                  <a:gd name="T20" fmla="*/ 200 w 996"/>
                  <a:gd name="T21" fmla="*/ 329 h 533"/>
                  <a:gd name="T22" fmla="*/ 612 w 996"/>
                  <a:gd name="T23" fmla="*/ 533 h 533"/>
                  <a:gd name="T24" fmla="*/ 996 w 996"/>
                  <a:gd name="T25" fmla="*/ 529 h 533"/>
                  <a:gd name="T26" fmla="*/ 828 w 996"/>
                  <a:gd name="T27" fmla="*/ 473 h 533"/>
                  <a:gd name="T28" fmla="*/ 636 w 996"/>
                  <a:gd name="T29" fmla="*/ 373 h 53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96" h="533">
                    <a:moveTo>
                      <a:pt x="636" y="373"/>
                    </a:moveTo>
                    <a:lnTo>
                      <a:pt x="495" y="370"/>
                    </a:lnTo>
                    <a:lnTo>
                      <a:pt x="280" y="249"/>
                    </a:lnTo>
                    <a:lnTo>
                      <a:pt x="127" y="66"/>
                    </a:lnTo>
                    <a:lnTo>
                      <a:pt x="0" y="0"/>
                    </a:lnTo>
                    <a:lnTo>
                      <a:pt x="22" y="26"/>
                    </a:lnTo>
                    <a:lnTo>
                      <a:pt x="0" y="65"/>
                    </a:lnTo>
                    <a:lnTo>
                      <a:pt x="30" y="119"/>
                    </a:lnTo>
                    <a:lnTo>
                      <a:pt x="75" y="243"/>
                    </a:lnTo>
                    <a:lnTo>
                      <a:pt x="45" y="422"/>
                    </a:lnTo>
                    <a:lnTo>
                      <a:pt x="200" y="329"/>
                    </a:lnTo>
                    <a:lnTo>
                      <a:pt x="612" y="533"/>
                    </a:lnTo>
                    <a:lnTo>
                      <a:pt x="996" y="529"/>
                    </a:lnTo>
                    <a:lnTo>
                      <a:pt x="828" y="473"/>
                    </a:lnTo>
                    <a:lnTo>
                      <a:pt x="636" y="373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045" name="Freeform 11"/>
              <p:cNvSpPr>
                <a:spLocks/>
              </p:cNvSpPr>
              <p:nvPr userDrawn="1"/>
            </p:nvSpPr>
            <p:spPr bwMode="ltGray">
              <a:xfrm>
                <a:off x="2677" y="3792"/>
                <a:ext cx="186" cy="395"/>
              </a:xfrm>
              <a:custGeom>
                <a:avLst/>
                <a:gdLst>
                  <a:gd name="T0" fmla="*/ 36 w 186"/>
                  <a:gd name="T1" fmla="*/ 0 h 353"/>
                  <a:gd name="T2" fmla="*/ 54 w 186"/>
                  <a:gd name="T3" fmla="*/ 18 h 353"/>
                  <a:gd name="T4" fmla="*/ 24 w 186"/>
                  <a:gd name="T5" fmla="*/ 30 h 353"/>
                  <a:gd name="T6" fmla="*/ 18 w 186"/>
                  <a:gd name="T7" fmla="*/ 66 h 353"/>
                  <a:gd name="T8" fmla="*/ 42 w 186"/>
                  <a:gd name="T9" fmla="*/ 114 h 353"/>
                  <a:gd name="T10" fmla="*/ 48 w 186"/>
                  <a:gd name="T11" fmla="*/ 162 h 353"/>
                  <a:gd name="T12" fmla="*/ 0 w 186"/>
                  <a:gd name="T13" fmla="*/ 353 h 353"/>
                  <a:gd name="T14" fmla="*/ 54 w 186"/>
                  <a:gd name="T15" fmla="*/ 233 h 353"/>
                  <a:gd name="T16" fmla="*/ 84 w 186"/>
                  <a:gd name="T17" fmla="*/ 216 h 353"/>
                  <a:gd name="T18" fmla="*/ 126 w 186"/>
                  <a:gd name="T19" fmla="*/ 126 h 353"/>
                  <a:gd name="T20" fmla="*/ 144 w 186"/>
                  <a:gd name="T21" fmla="*/ 120 h 353"/>
                  <a:gd name="T22" fmla="*/ 144 w 186"/>
                  <a:gd name="T23" fmla="*/ 90 h 353"/>
                  <a:gd name="T24" fmla="*/ 186 w 186"/>
                  <a:gd name="T25" fmla="*/ 66 h 353"/>
                  <a:gd name="T26" fmla="*/ 162 w 186"/>
                  <a:gd name="T27" fmla="*/ 60 h 353"/>
                  <a:gd name="T28" fmla="*/ 36 w 186"/>
                  <a:gd name="T29" fmla="*/ 0 h 353"/>
                  <a:gd name="T30" fmla="*/ 36 w 186"/>
                  <a:gd name="T31" fmla="*/ 0 h 35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6" h="353">
                    <a:moveTo>
                      <a:pt x="36" y="0"/>
                    </a:moveTo>
                    <a:lnTo>
                      <a:pt x="54" y="18"/>
                    </a:lnTo>
                    <a:lnTo>
                      <a:pt x="24" y="30"/>
                    </a:lnTo>
                    <a:lnTo>
                      <a:pt x="18" y="66"/>
                    </a:lnTo>
                    <a:lnTo>
                      <a:pt x="42" y="114"/>
                    </a:lnTo>
                    <a:lnTo>
                      <a:pt x="48" y="162"/>
                    </a:lnTo>
                    <a:lnTo>
                      <a:pt x="0" y="353"/>
                    </a:lnTo>
                    <a:lnTo>
                      <a:pt x="54" y="233"/>
                    </a:lnTo>
                    <a:lnTo>
                      <a:pt x="84" y="216"/>
                    </a:lnTo>
                    <a:lnTo>
                      <a:pt x="126" y="126"/>
                    </a:lnTo>
                    <a:lnTo>
                      <a:pt x="144" y="120"/>
                    </a:lnTo>
                    <a:lnTo>
                      <a:pt x="144" y="90"/>
                    </a:lnTo>
                    <a:lnTo>
                      <a:pt x="186" y="66"/>
                    </a:lnTo>
                    <a:lnTo>
                      <a:pt x="162" y="6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046" name="Freeform 12"/>
              <p:cNvSpPr>
                <a:spLocks/>
              </p:cNvSpPr>
              <p:nvPr userDrawn="1"/>
            </p:nvSpPr>
            <p:spPr bwMode="ltGray">
              <a:xfrm>
                <a:off x="3030" y="3893"/>
                <a:ext cx="378" cy="271"/>
              </a:xfrm>
              <a:custGeom>
                <a:avLst/>
                <a:gdLst>
                  <a:gd name="T0" fmla="*/ 18 w 378"/>
                  <a:gd name="T1" fmla="*/ 0 h 271"/>
                  <a:gd name="T2" fmla="*/ 12 w 378"/>
                  <a:gd name="T3" fmla="*/ 13 h 271"/>
                  <a:gd name="T4" fmla="*/ 0 w 378"/>
                  <a:gd name="T5" fmla="*/ 40 h 271"/>
                  <a:gd name="T6" fmla="*/ 60 w 378"/>
                  <a:gd name="T7" fmla="*/ 121 h 271"/>
                  <a:gd name="T8" fmla="*/ 310 w 378"/>
                  <a:gd name="T9" fmla="*/ 271 h 271"/>
                  <a:gd name="T10" fmla="*/ 290 w 378"/>
                  <a:gd name="T11" fmla="*/ 139 h 271"/>
                  <a:gd name="T12" fmla="*/ 378 w 378"/>
                  <a:gd name="T13" fmla="*/ 76 h 271"/>
                  <a:gd name="T14" fmla="*/ 251 w 378"/>
                  <a:gd name="T15" fmla="*/ 94 h 271"/>
                  <a:gd name="T16" fmla="*/ 90 w 378"/>
                  <a:gd name="T17" fmla="*/ 54 h 271"/>
                  <a:gd name="T18" fmla="*/ 18 w 378"/>
                  <a:gd name="T19" fmla="*/ 0 h 271"/>
                  <a:gd name="T20" fmla="*/ 18 w 378"/>
                  <a:gd name="T21" fmla="*/ 0 h 27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78" h="271">
                    <a:moveTo>
                      <a:pt x="18" y="0"/>
                    </a:moveTo>
                    <a:lnTo>
                      <a:pt x="12" y="13"/>
                    </a:lnTo>
                    <a:lnTo>
                      <a:pt x="0" y="40"/>
                    </a:lnTo>
                    <a:lnTo>
                      <a:pt x="60" y="121"/>
                    </a:lnTo>
                    <a:lnTo>
                      <a:pt x="310" y="271"/>
                    </a:lnTo>
                    <a:lnTo>
                      <a:pt x="290" y="139"/>
                    </a:lnTo>
                    <a:lnTo>
                      <a:pt x="378" y="76"/>
                    </a:lnTo>
                    <a:lnTo>
                      <a:pt x="251" y="94"/>
                    </a:lnTo>
                    <a:lnTo>
                      <a:pt x="90" y="54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047" name="Freeform 13"/>
              <p:cNvSpPr>
                <a:spLocks/>
              </p:cNvSpPr>
              <p:nvPr userDrawn="1"/>
            </p:nvSpPr>
            <p:spPr bwMode="ltGray">
              <a:xfrm>
                <a:off x="3628" y="3866"/>
                <a:ext cx="155" cy="74"/>
              </a:xfrm>
              <a:custGeom>
                <a:avLst/>
                <a:gdLst>
                  <a:gd name="T0" fmla="*/ 114 w 155"/>
                  <a:gd name="T1" fmla="*/ 0 h 66"/>
                  <a:gd name="T2" fmla="*/ 0 w 155"/>
                  <a:gd name="T3" fmla="*/ 0 h 66"/>
                  <a:gd name="T4" fmla="*/ 0 w 155"/>
                  <a:gd name="T5" fmla="*/ 0 h 66"/>
                  <a:gd name="T6" fmla="*/ 6 w 155"/>
                  <a:gd name="T7" fmla="*/ 6 h 66"/>
                  <a:gd name="T8" fmla="*/ 6 w 155"/>
                  <a:gd name="T9" fmla="*/ 18 h 66"/>
                  <a:gd name="T10" fmla="*/ 0 w 155"/>
                  <a:gd name="T11" fmla="*/ 24 h 66"/>
                  <a:gd name="T12" fmla="*/ 78 w 155"/>
                  <a:gd name="T13" fmla="*/ 60 h 66"/>
                  <a:gd name="T14" fmla="*/ 96 w 155"/>
                  <a:gd name="T15" fmla="*/ 42 h 66"/>
                  <a:gd name="T16" fmla="*/ 155 w 155"/>
                  <a:gd name="T17" fmla="*/ 66 h 66"/>
                  <a:gd name="T18" fmla="*/ 126 w 155"/>
                  <a:gd name="T19" fmla="*/ 24 h 66"/>
                  <a:gd name="T20" fmla="*/ 149 w 155"/>
                  <a:gd name="T21" fmla="*/ 0 h 66"/>
                  <a:gd name="T22" fmla="*/ 114 w 155"/>
                  <a:gd name="T23" fmla="*/ 0 h 66"/>
                  <a:gd name="T24" fmla="*/ 114 w 155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5" h="66">
                    <a:moveTo>
                      <a:pt x="114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6" y="18"/>
                    </a:lnTo>
                    <a:lnTo>
                      <a:pt x="0" y="24"/>
                    </a:lnTo>
                    <a:lnTo>
                      <a:pt x="78" y="60"/>
                    </a:lnTo>
                    <a:lnTo>
                      <a:pt x="96" y="42"/>
                    </a:lnTo>
                    <a:lnTo>
                      <a:pt x="155" y="66"/>
                    </a:lnTo>
                    <a:lnTo>
                      <a:pt x="126" y="24"/>
                    </a:lnTo>
                    <a:lnTo>
                      <a:pt x="149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  <p:sp>
            <p:nvSpPr>
              <p:cNvPr id="1048" name="Freeform 14"/>
              <p:cNvSpPr>
                <a:spLocks/>
              </p:cNvSpPr>
              <p:nvPr userDrawn="1"/>
            </p:nvSpPr>
            <p:spPr bwMode="ltGray">
              <a:xfrm>
                <a:off x="2486" y="3859"/>
                <a:ext cx="42" cy="81"/>
              </a:xfrm>
              <a:custGeom>
                <a:avLst/>
                <a:gdLst>
                  <a:gd name="T0" fmla="*/ 6 w 42"/>
                  <a:gd name="T1" fmla="*/ 36 h 72"/>
                  <a:gd name="T2" fmla="*/ 0 w 42"/>
                  <a:gd name="T3" fmla="*/ 18 h 72"/>
                  <a:gd name="T4" fmla="*/ 12 w 42"/>
                  <a:gd name="T5" fmla="*/ 6 h 72"/>
                  <a:gd name="T6" fmla="*/ 0 w 42"/>
                  <a:gd name="T7" fmla="*/ 6 h 72"/>
                  <a:gd name="T8" fmla="*/ 12 w 42"/>
                  <a:gd name="T9" fmla="*/ 6 h 72"/>
                  <a:gd name="T10" fmla="*/ 24 w 42"/>
                  <a:gd name="T11" fmla="*/ 6 h 72"/>
                  <a:gd name="T12" fmla="*/ 36 w 42"/>
                  <a:gd name="T13" fmla="*/ 6 h 72"/>
                  <a:gd name="T14" fmla="*/ 42 w 42"/>
                  <a:gd name="T15" fmla="*/ 0 h 72"/>
                  <a:gd name="T16" fmla="*/ 30 w 42"/>
                  <a:gd name="T17" fmla="*/ 18 h 72"/>
                  <a:gd name="T18" fmla="*/ 42 w 42"/>
                  <a:gd name="T19" fmla="*/ 48 h 72"/>
                  <a:gd name="T20" fmla="*/ 12 w 42"/>
                  <a:gd name="T21" fmla="*/ 72 h 72"/>
                  <a:gd name="T22" fmla="*/ 6 w 42"/>
                  <a:gd name="T23" fmla="*/ 36 h 72"/>
                  <a:gd name="T24" fmla="*/ 6 w 42"/>
                  <a:gd name="T25" fmla="*/ 36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2" h="72">
                    <a:moveTo>
                      <a:pt x="6" y="36"/>
                    </a:moveTo>
                    <a:lnTo>
                      <a:pt x="0" y="18"/>
                    </a:lnTo>
                    <a:lnTo>
                      <a:pt x="12" y="6"/>
                    </a:lnTo>
                    <a:lnTo>
                      <a:pt x="0" y="6"/>
                    </a:lnTo>
                    <a:lnTo>
                      <a:pt x="12" y="6"/>
                    </a:lnTo>
                    <a:lnTo>
                      <a:pt x="24" y="6"/>
                    </a:lnTo>
                    <a:lnTo>
                      <a:pt x="36" y="6"/>
                    </a:lnTo>
                    <a:lnTo>
                      <a:pt x="42" y="0"/>
                    </a:lnTo>
                    <a:lnTo>
                      <a:pt x="30" y="18"/>
                    </a:lnTo>
                    <a:lnTo>
                      <a:pt x="42" y="48"/>
                    </a:lnTo>
                    <a:lnTo>
                      <a:pt x="12" y="72"/>
                    </a:lnTo>
                    <a:lnTo>
                      <a:pt x="6" y="36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s-MX"/>
              </a:p>
            </p:txBody>
          </p:sp>
        </p:grpSp>
        <p:sp>
          <p:nvSpPr>
            <p:cNvPr id="387087" name="Freeform 15"/>
            <p:cNvSpPr>
              <a:spLocks/>
            </p:cNvSpPr>
            <p:nvPr userDrawn="1"/>
          </p:nvSpPr>
          <p:spPr bwMode="ltGray">
            <a:xfrm>
              <a:off x="0" y="3792"/>
              <a:ext cx="3976" cy="535"/>
            </a:xfrm>
            <a:custGeom>
              <a:avLst/>
              <a:gdLst/>
              <a:ahLst/>
              <a:cxnLst>
                <a:cxn ang="0">
                  <a:pos x="3976" y="527"/>
                </a:cxn>
                <a:cxn ang="0">
                  <a:pos x="3970" y="527"/>
                </a:cxn>
                <a:cxn ang="0">
                  <a:pos x="3844" y="509"/>
                </a:cxn>
                <a:cxn ang="0">
                  <a:pos x="2487" y="305"/>
                </a:cxn>
                <a:cxn ang="0">
                  <a:pos x="2039" y="36"/>
                </a:cxn>
                <a:cxn ang="0">
                  <a:pos x="1907" y="24"/>
                </a:cxn>
                <a:cxn ang="0">
                  <a:pos x="1883" y="54"/>
                </a:cxn>
                <a:cxn ang="0">
                  <a:pos x="1859" y="54"/>
                </a:cxn>
                <a:cxn ang="0">
                  <a:pos x="1830" y="30"/>
                </a:cxn>
                <a:cxn ang="0">
                  <a:pos x="1704" y="102"/>
                </a:cxn>
                <a:cxn ang="0">
                  <a:pos x="1608" y="126"/>
                </a:cxn>
                <a:cxn ang="0">
                  <a:pos x="1561" y="132"/>
                </a:cxn>
                <a:cxn ang="0">
                  <a:pos x="1495" y="102"/>
                </a:cxn>
                <a:cxn ang="0">
                  <a:pos x="1357" y="126"/>
                </a:cxn>
                <a:cxn ang="0">
                  <a:pos x="1285" y="24"/>
                </a:cxn>
                <a:cxn ang="0">
                  <a:pos x="1280" y="18"/>
                </a:cxn>
                <a:cxn ang="0">
                  <a:pos x="1262" y="12"/>
                </a:cxn>
                <a:cxn ang="0">
                  <a:pos x="1238" y="6"/>
                </a:cxn>
                <a:cxn ang="0">
                  <a:pos x="1220" y="0"/>
                </a:cxn>
                <a:cxn ang="0">
                  <a:pos x="1196" y="0"/>
                </a:cxn>
                <a:cxn ang="0">
                  <a:pos x="1166" y="0"/>
                </a:cxn>
                <a:cxn ang="0">
                  <a:pos x="1142" y="0"/>
                </a:cxn>
                <a:cxn ang="0">
                  <a:pos x="1136" y="0"/>
                </a:cxn>
                <a:cxn ang="0">
                  <a:pos x="1130" y="0"/>
                </a:cxn>
                <a:cxn ang="0">
                  <a:pos x="1124" y="6"/>
                </a:cxn>
                <a:cxn ang="0">
                  <a:pos x="1118" y="12"/>
                </a:cxn>
                <a:cxn ang="0">
                  <a:pos x="1100" y="18"/>
                </a:cxn>
                <a:cxn ang="0">
                  <a:pos x="1088" y="18"/>
                </a:cxn>
                <a:cxn ang="0">
                  <a:pos x="1070" y="24"/>
                </a:cxn>
                <a:cxn ang="0">
                  <a:pos x="1052" y="30"/>
                </a:cxn>
                <a:cxn ang="0">
                  <a:pos x="1034" y="36"/>
                </a:cxn>
                <a:cxn ang="0">
                  <a:pos x="1028" y="42"/>
                </a:cxn>
                <a:cxn ang="0">
                  <a:pos x="969" y="60"/>
                </a:cxn>
                <a:cxn ang="0">
                  <a:pos x="921" y="72"/>
                </a:cxn>
                <a:cxn ang="0">
                  <a:pos x="855" y="48"/>
                </a:cxn>
                <a:cxn ang="0">
                  <a:pos x="825" y="48"/>
                </a:cxn>
                <a:cxn ang="0">
                  <a:pos x="759" y="72"/>
                </a:cxn>
                <a:cxn ang="0">
                  <a:pos x="735" y="72"/>
                </a:cxn>
                <a:cxn ang="0">
                  <a:pos x="706" y="60"/>
                </a:cxn>
                <a:cxn ang="0">
                  <a:pos x="640" y="60"/>
                </a:cxn>
                <a:cxn ang="0">
                  <a:pos x="544" y="72"/>
                </a:cxn>
                <a:cxn ang="0">
                  <a:pos x="389" y="18"/>
                </a:cxn>
                <a:cxn ang="0">
                  <a:pos x="323" y="60"/>
                </a:cxn>
                <a:cxn ang="0">
                  <a:pos x="317" y="60"/>
                </a:cxn>
                <a:cxn ang="0">
                  <a:pos x="305" y="72"/>
                </a:cxn>
                <a:cxn ang="0">
                  <a:pos x="287" y="78"/>
                </a:cxn>
                <a:cxn ang="0">
                  <a:pos x="263" y="90"/>
                </a:cxn>
                <a:cxn ang="0">
                  <a:pos x="203" y="120"/>
                </a:cxn>
                <a:cxn ang="0">
                  <a:pos x="149" y="150"/>
                </a:cxn>
                <a:cxn ang="0">
                  <a:pos x="78" y="168"/>
                </a:cxn>
                <a:cxn ang="0">
                  <a:pos x="0" y="180"/>
                </a:cxn>
                <a:cxn ang="0">
                  <a:pos x="0" y="527"/>
                </a:cxn>
                <a:cxn ang="0">
                  <a:pos x="1010" y="527"/>
                </a:cxn>
                <a:cxn ang="0">
                  <a:pos x="3725" y="527"/>
                </a:cxn>
                <a:cxn ang="0">
                  <a:pos x="3976" y="527"/>
                </a:cxn>
                <a:cxn ang="0">
                  <a:pos x="3976" y="527"/>
                </a:cxn>
              </a:cxnLst>
              <a:rect l="0" t="0" r="r" b="b"/>
              <a:pathLst>
                <a:path w="3976" h="527">
                  <a:moveTo>
                    <a:pt x="3976" y="527"/>
                  </a:moveTo>
                  <a:lnTo>
                    <a:pt x="3970" y="527"/>
                  </a:lnTo>
                  <a:lnTo>
                    <a:pt x="3844" y="509"/>
                  </a:lnTo>
                  <a:lnTo>
                    <a:pt x="2487" y="305"/>
                  </a:lnTo>
                  <a:lnTo>
                    <a:pt x="2039" y="36"/>
                  </a:lnTo>
                  <a:lnTo>
                    <a:pt x="1907" y="24"/>
                  </a:lnTo>
                  <a:lnTo>
                    <a:pt x="1883" y="54"/>
                  </a:lnTo>
                  <a:lnTo>
                    <a:pt x="1859" y="54"/>
                  </a:lnTo>
                  <a:lnTo>
                    <a:pt x="1830" y="30"/>
                  </a:lnTo>
                  <a:lnTo>
                    <a:pt x="1704" y="102"/>
                  </a:lnTo>
                  <a:lnTo>
                    <a:pt x="1608" y="126"/>
                  </a:lnTo>
                  <a:lnTo>
                    <a:pt x="1561" y="132"/>
                  </a:lnTo>
                  <a:lnTo>
                    <a:pt x="1495" y="102"/>
                  </a:lnTo>
                  <a:lnTo>
                    <a:pt x="1357" y="126"/>
                  </a:lnTo>
                  <a:lnTo>
                    <a:pt x="1285" y="24"/>
                  </a:lnTo>
                  <a:lnTo>
                    <a:pt x="1280" y="18"/>
                  </a:lnTo>
                  <a:lnTo>
                    <a:pt x="1262" y="12"/>
                  </a:lnTo>
                  <a:lnTo>
                    <a:pt x="1238" y="6"/>
                  </a:lnTo>
                  <a:lnTo>
                    <a:pt x="1220" y="0"/>
                  </a:lnTo>
                  <a:lnTo>
                    <a:pt x="1196" y="0"/>
                  </a:lnTo>
                  <a:lnTo>
                    <a:pt x="1166" y="0"/>
                  </a:lnTo>
                  <a:lnTo>
                    <a:pt x="1142" y="0"/>
                  </a:lnTo>
                  <a:lnTo>
                    <a:pt x="1136" y="0"/>
                  </a:lnTo>
                  <a:lnTo>
                    <a:pt x="1130" y="0"/>
                  </a:lnTo>
                  <a:lnTo>
                    <a:pt x="1124" y="6"/>
                  </a:lnTo>
                  <a:lnTo>
                    <a:pt x="1118" y="12"/>
                  </a:lnTo>
                  <a:lnTo>
                    <a:pt x="1100" y="18"/>
                  </a:lnTo>
                  <a:lnTo>
                    <a:pt x="1088" y="18"/>
                  </a:lnTo>
                  <a:lnTo>
                    <a:pt x="1070" y="24"/>
                  </a:lnTo>
                  <a:lnTo>
                    <a:pt x="1052" y="30"/>
                  </a:lnTo>
                  <a:lnTo>
                    <a:pt x="1034" y="36"/>
                  </a:lnTo>
                  <a:lnTo>
                    <a:pt x="1028" y="42"/>
                  </a:lnTo>
                  <a:lnTo>
                    <a:pt x="969" y="60"/>
                  </a:lnTo>
                  <a:lnTo>
                    <a:pt x="921" y="72"/>
                  </a:lnTo>
                  <a:lnTo>
                    <a:pt x="855" y="48"/>
                  </a:lnTo>
                  <a:lnTo>
                    <a:pt x="825" y="48"/>
                  </a:lnTo>
                  <a:lnTo>
                    <a:pt x="759" y="72"/>
                  </a:lnTo>
                  <a:lnTo>
                    <a:pt x="735" y="72"/>
                  </a:lnTo>
                  <a:lnTo>
                    <a:pt x="706" y="60"/>
                  </a:lnTo>
                  <a:lnTo>
                    <a:pt x="640" y="60"/>
                  </a:lnTo>
                  <a:lnTo>
                    <a:pt x="544" y="72"/>
                  </a:lnTo>
                  <a:lnTo>
                    <a:pt x="389" y="18"/>
                  </a:lnTo>
                  <a:lnTo>
                    <a:pt x="323" y="60"/>
                  </a:lnTo>
                  <a:lnTo>
                    <a:pt x="317" y="60"/>
                  </a:lnTo>
                  <a:lnTo>
                    <a:pt x="305" y="72"/>
                  </a:lnTo>
                  <a:lnTo>
                    <a:pt x="287" y="78"/>
                  </a:lnTo>
                  <a:lnTo>
                    <a:pt x="263" y="90"/>
                  </a:lnTo>
                  <a:lnTo>
                    <a:pt x="203" y="120"/>
                  </a:lnTo>
                  <a:lnTo>
                    <a:pt x="149" y="150"/>
                  </a:lnTo>
                  <a:lnTo>
                    <a:pt x="78" y="168"/>
                  </a:lnTo>
                  <a:lnTo>
                    <a:pt x="0" y="180"/>
                  </a:lnTo>
                  <a:lnTo>
                    <a:pt x="0" y="527"/>
                  </a:lnTo>
                  <a:lnTo>
                    <a:pt x="1010" y="527"/>
                  </a:lnTo>
                  <a:lnTo>
                    <a:pt x="3725" y="527"/>
                  </a:lnTo>
                  <a:lnTo>
                    <a:pt x="3976" y="527"/>
                  </a:lnTo>
                  <a:lnTo>
                    <a:pt x="3976" y="527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75686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1029" name="Group 16"/>
          <p:cNvGrpSpPr>
            <a:grpSpLocks/>
          </p:cNvGrpSpPr>
          <p:nvPr/>
        </p:nvGrpSpPr>
        <p:grpSpPr bwMode="auto">
          <a:xfrm>
            <a:off x="627063" y="6021388"/>
            <a:ext cx="5684837" cy="849312"/>
            <a:chOff x="395" y="3793"/>
            <a:chExt cx="3581" cy="535"/>
          </a:xfrm>
        </p:grpSpPr>
        <p:sp>
          <p:nvSpPr>
            <p:cNvPr id="1035" name="Freeform 17"/>
            <p:cNvSpPr>
              <a:spLocks/>
            </p:cNvSpPr>
            <p:nvPr/>
          </p:nvSpPr>
          <p:spPr bwMode="auto">
            <a:xfrm>
              <a:off x="1196" y="3793"/>
              <a:ext cx="365" cy="291"/>
            </a:xfrm>
            <a:custGeom>
              <a:avLst/>
              <a:gdLst>
                <a:gd name="T0" fmla="*/ 24 w 365"/>
                <a:gd name="T1" fmla="*/ 24 h 287"/>
                <a:gd name="T2" fmla="*/ 0 w 365"/>
                <a:gd name="T3" fmla="*/ 60 h 287"/>
                <a:gd name="T4" fmla="*/ 66 w 365"/>
                <a:gd name="T5" fmla="*/ 108 h 287"/>
                <a:gd name="T6" fmla="*/ 143 w 365"/>
                <a:gd name="T7" fmla="*/ 180 h 287"/>
                <a:gd name="T8" fmla="*/ 191 w 365"/>
                <a:gd name="T9" fmla="*/ 168 h 287"/>
                <a:gd name="T10" fmla="*/ 341 w 365"/>
                <a:gd name="T11" fmla="*/ 287 h 287"/>
                <a:gd name="T12" fmla="*/ 305 w 365"/>
                <a:gd name="T13" fmla="*/ 174 h 287"/>
                <a:gd name="T14" fmla="*/ 365 w 365"/>
                <a:gd name="T15" fmla="*/ 132 h 287"/>
                <a:gd name="T16" fmla="*/ 359 w 365"/>
                <a:gd name="T17" fmla="*/ 126 h 287"/>
                <a:gd name="T18" fmla="*/ 335 w 365"/>
                <a:gd name="T19" fmla="*/ 114 h 287"/>
                <a:gd name="T20" fmla="*/ 299 w 365"/>
                <a:gd name="T21" fmla="*/ 90 h 287"/>
                <a:gd name="T22" fmla="*/ 257 w 365"/>
                <a:gd name="T23" fmla="*/ 72 h 287"/>
                <a:gd name="T24" fmla="*/ 215 w 365"/>
                <a:gd name="T25" fmla="*/ 54 h 287"/>
                <a:gd name="T26" fmla="*/ 173 w 365"/>
                <a:gd name="T27" fmla="*/ 36 h 287"/>
                <a:gd name="T28" fmla="*/ 143 w 365"/>
                <a:gd name="T29" fmla="*/ 24 h 287"/>
                <a:gd name="T30" fmla="*/ 131 w 365"/>
                <a:gd name="T31" fmla="*/ 18 h 287"/>
                <a:gd name="T32" fmla="*/ 107 w 365"/>
                <a:gd name="T33" fmla="*/ 18 h 287"/>
                <a:gd name="T34" fmla="*/ 95 w 365"/>
                <a:gd name="T35" fmla="*/ 18 h 287"/>
                <a:gd name="T36" fmla="*/ 72 w 365"/>
                <a:gd name="T37" fmla="*/ 12 h 287"/>
                <a:gd name="T38" fmla="*/ 66 w 365"/>
                <a:gd name="T39" fmla="*/ 12 h 287"/>
                <a:gd name="T40" fmla="*/ 54 w 365"/>
                <a:gd name="T41" fmla="*/ 6 h 287"/>
                <a:gd name="T42" fmla="*/ 42 w 365"/>
                <a:gd name="T43" fmla="*/ 0 h 287"/>
                <a:gd name="T44" fmla="*/ 30 w 365"/>
                <a:gd name="T45" fmla="*/ 0 h 287"/>
                <a:gd name="T46" fmla="*/ 24 w 365"/>
                <a:gd name="T47" fmla="*/ 24 h 287"/>
                <a:gd name="T48" fmla="*/ 24 w 365"/>
                <a:gd name="T49" fmla="*/ 24 h 2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5" h="287">
                  <a:moveTo>
                    <a:pt x="24" y="24"/>
                  </a:moveTo>
                  <a:lnTo>
                    <a:pt x="0" y="60"/>
                  </a:lnTo>
                  <a:lnTo>
                    <a:pt x="66" y="108"/>
                  </a:lnTo>
                  <a:lnTo>
                    <a:pt x="143" y="180"/>
                  </a:lnTo>
                  <a:lnTo>
                    <a:pt x="191" y="168"/>
                  </a:lnTo>
                  <a:lnTo>
                    <a:pt x="341" y="287"/>
                  </a:lnTo>
                  <a:lnTo>
                    <a:pt x="305" y="174"/>
                  </a:lnTo>
                  <a:lnTo>
                    <a:pt x="365" y="132"/>
                  </a:lnTo>
                  <a:lnTo>
                    <a:pt x="359" y="126"/>
                  </a:lnTo>
                  <a:lnTo>
                    <a:pt x="335" y="114"/>
                  </a:lnTo>
                  <a:lnTo>
                    <a:pt x="299" y="90"/>
                  </a:lnTo>
                  <a:lnTo>
                    <a:pt x="257" y="72"/>
                  </a:lnTo>
                  <a:lnTo>
                    <a:pt x="215" y="54"/>
                  </a:lnTo>
                  <a:lnTo>
                    <a:pt x="173" y="36"/>
                  </a:lnTo>
                  <a:lnTo>
                    <a:pt x="143" y="24"/>
                  </a:lnTo>
                  <a:lnTo>
                    <a:pt x="131" y="18"/>
                  </a:lnTo>
                  <a:lnTo>
                    <a:pt x="107" y="18"/>
                  </a:lnTo>
                  <a:lnTo>
                    <a:pt x="95" y="18"/>
                  </a:lnTo>
                  <a:lnTo>
                    <a:pt x="72" y="12"/>
                  </a:lnTo>
                  <a:lnTo>
                    <a:pt x="66" y="12"/>
                  </a:lnTo>
                  <a:lnTo>
                    <a:pt x="54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24" y="2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036" name="Freeform 18"/>
            <p:cNvSpPr>
              <a:spLocks/>
            </p:cNvSpPr>
            <p:nvPr/>
          </p:nvSpPr>
          <p:spPr bwMode="auto">
            <a:xfrm>
              <a:off x="1943" y="3829"/>
              <a:ext cx="2033" cy="499"/>
            </a:xfrm>
            <a:custGeom>
              <a:avLst/>
              <a:gdLst>
                <a:gd name="T0" fmla="*/ 186 w 2033"/>
                <a:gd name="T1" fmla="*/ 18 h 499"/>
                <a:gd name="T2" fmla="*/ 138 w 2033"/>
                <a:gd name="T3" fmla="*/ 6 h 499"/>
                <a:gd name="T4" fmla="*/ 96 w 2033"/>
                <a:gd name="T5" fmla="*/ 0 h 499"/>
                <a:gd name="T6" fmla="*/ 36 w 2033"/>
                <a:gd name="T7" fmla="*/ 0 h 499"/>
                <a:gd name="T8" fmla="*/ 12 w 2033"/>
                <a:gd name="T9" fmla="*/ 25 h 499"/>
                <a:gd name="T10" fmla="*/ 0 w 2033"/>
                <a:gd name="T11" fmla="*/ 128 h 499"/>
                <a:gd name="T12" fmla="*/ 60 w 2033"/>
                <a:gd name="T13" fmla="*/ 104 h 499"/>
                <a:gd name="T14" fmla="*/ 90 w 2033"/>
                <a:gd name="T15" fmla="*/ 134 h 499"/>
                <a:gd name="T16" fmla="*/ 150 w 2033"/>
                <a:gd name="T17" fmla="*/ 153 h 499"/>
                <a:gd name="T18" fmla="*/ 209 w 2033"/>
                <a:gd name="T19" fmla="*/ 273 h 499"/>
                <a:gd name="T20" fmla="*/ 401 w 2033"/>
                <a:gd name="T21" fmla="*/ 359 h 499"/>
                <a:gd name="T22" fmla="*/ 777 w 2033"/>
                <a:gd name="T23" fmla="*/ 359 h 499"/>
                <a:gd name="T24" fmla="*/ 2033 w 2033"/>
                <a:gd name="T25" fmla="*/ 499 h 499"/>
                <a:gd name="T26" fmla="*/ 2033 w 2033"/>
                <a:gd name="T27" fmla="*/ 499 h 499"/>
                <a:gd name="T28" fmla="*/ 1991 w 2033"/>
                <a:gd name="T29" fmla="*/ 493 h 499"/>
                <a:gd name="T30" fmla="*/ 676 w 2033"/>
                <a:gd name="T31" fmla="*/ 243 h 499"/>
                <a:gd name="T32" fmla="*/ 514 w 2033"/>
                <a:gd name="T33" fmla="*/ 159 h 499"/>
                <a:gd name="T34" fmla="*/ 425 w 2033"/>
                <a:gd name="T35" fmla="*/ 110 h 499"/>
                <a:gd name="T36" fmla="*/ 365 w 2033"/>
                <a:gd name="T37" fmla="*/ 92 h 499"/>
                <a:gd name="T38" fmla="*/ 281 w 2033"/>
                <a:gd name="T39" fmla="*/ 61 h 499"/>
                <a:gd name="T40" fmla="*/ 186 w 2033"/>
                <a:gd name="T41" fmla="*/ 18 h 499"/>
                <a:gd name="T42" fmla="*/ 186 w 2033"/>
                <a:gd name="T43" fmla="*/ 18 h 49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33" h="499">
                  <a:moveTo>
                    <a:pt x="186" y="18"/>
                  </a:moveTo>
                  <a:lnTo>
                    <a:pt x="138" y="6"/>
                  </a:lnTo>
                  <a:lnTo>
                    <a:pt x="96" y="0"/>
                  </a:lnTo>
                  <a:lnTo>
                    <a:pt x="36" y="0"/>
                  </a:lnTo>
                  <a:lnTo>
                    <a:pt x="12" y="25"/>
                  </a:lnTo>
                  <a:lnTo>
                    <a:pt x="0" y="128"/>
                  </a:lnTo>
                  <a:lnTo>
                    <a:pt x="60" y="104"/>
                  </a:lnTo>
                  <a:lnTo>
                    <a:pt x="90" y="134"/>
                  </a:lnTo>
                  <a:lnTo>
                    <a:pt x="150" y="153"/>
                  </a:lnTo>
                  <a:lnTo>
                    <a:pt x="209" y="273"/>
                  </a:lnTo>
                  <a:lnTo>
                    <a:pt x="401" y="359"/>
                  </a:lnTo>
                  <a:lnTo>
                    <a:pt x="777" y="359"/>
                  </a:lnTo>
                  <a:lnTo>
                    <a:pt x="2033" y="499"/>
                  </a:lnTo>
                  <a:lnTo>
                    <a:pt x="1991" y="493"/>
                  </a:lnTo>
                  <a:lnTo>
                    <a:pt x="676" y="243"/>
                  </a:lnTo>
                  <a:lnTo>
                    <a:pt x="514" y="159"/>
                  </a:lnTo>
                  <a:lnTo>
                    <a:pt x="425" y="110"/>
                  </a:lnTo>
                  <a:lnTo>
                    <a:pt x="365" y="92"/>
                  </a:lnTo>
                  <a:lnTo>
                    <a:pt x="281" y="61"/>
                  </a:lnTo>
                  <a:lnTo>
                    <a:pt x="186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037" name="Freeform 19"/>
            <p:cNvSpPr>
              <a:spLocks/>
            </p:cNvSpPr>
            <p:nvPr/>
          </p:nvSpPr>
          <p:spPr bwMode="auto">
            <a:xfrm>
              <a:off x="1830" y="3823"/>
              <a:ext cx="71" cy="61"/>
            </a:xfrm>
            <a:custGeom>
              <a:avLst/>
              <a:gdLst>
                <a:gd name="T0" fmla="*/ 0 w 71"/>
                <a:gd name="T1" fmla="*/ 18 h 60"/>
                <a:gd name="T2" fmla="*/ 6 w 71"/>
                <a:gd name="T3" fmla="*/ 18 h 60"/>
                <a:gd name="T4" fmla="*/ 12 w 71"/>
                <a:gd name="T5" fmla="*/ 12 h 60"/>
                <a:gd name="T6" fmla="*/ 6 w 71"/>
                <a:gd name="T7" fmla="*/ 6 h 60"/>
                <a:gd name="T8" fmla="*/ 0 w 71"/>
                <a:gd name="T9" fmla="*/ 0 h 60"/>
                <a:gd name="T10" fmla="*/ 29 w 71"/>
                <a:gd name="T11" fmla="*/ 18 h 60"/>
                <a:gd name="T12" fmla="*/ 53 w 71"/>
                <a:gd name="T13" fmla="*/ 18 h 60"/>
                <a:gd name="T14" fmla="*/ 59 w 71"/>
                <a:gd name="T15" fmla="*/ 30 h 60"/>
                <a:gd name="T16" fmla="*/ 65 w 71"/>
                <a:gd name="T17" fmla="*/ 42 h 60"/>
                <a:gd name="T18" fmla="*/ 71 w 71"/>
                <a:gd name="T19" fmla="*/ 54 h 60"/>
                <a:gd name="T20" fmla="*/ 71 w 71"/>
                <a:gd name="T21" fmla="*/ 60 h 60"/>
                <a:gd name="T22" fmla="*/ 59 w 71"/>
                <a:gd name="T23" fmla="*/ 54 h 60"/>
                <a:gd name="T24" fmla="*/ 47 w 71"/>
                <a:gd name="T25" fmla="*/ 42 h 60"/>
                <a:gd name="T26" fmla="*/ 23 w 71"/>
                <a:gd name="T27" fmla="*/ 30 h 60"/>
                <a:gd name="T28" fmla="*/ 23 w 71"/>
                <a:gd name="T29" fmla="*/ 36 h 60"/>
                <a:gd name="T30" fmla="*/ 18 w 71"/>
                <a:gd name="T31" fmla="*/ 42 h 60"/>
                <a:gd name="T32" fmla="*/ 12 w 71"/>
                <a:gd name="T33" fmla="*/ 48 h 60"/>
                <a:gd name="T34" fmla="*/ 6 w 71"/>
                <a:gd name="T35" fmla="*/ 48 h 60"/>
                <a:gd name="T36" fmla="*/ 6 w 71"/>
                <a:gd name="T37" fmla="*/ 48 h 60"/>
                <a:gd name="T38" fmla="*/ 6 w 71"/>
                <a:gd name="T39" fmla="*/ 36 h 60"/>
                <a:gd name="T40" fmla="*/ 0 w 71"/>
                <a:gd name="T41" fmla="*/ 18 h 60"/>
                <a:gd name="T42" fmla="*/ 0 w 71"/>
                <a:gd name="T43" fmla="*/ 18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71" h="60">
                  <a:moveTo>
                    <a:pt x="0" y="18"/>
                  </a:moveTo>
                  <a:lnTo>
                    <a:pt x="6" y="18"/>
                  </a:lnTo>
                  <a:lnTo>
                    <a:pt x="12" y="12"/>
                  </a:lnTo>
                  <a:lnTo>
                    <a:pt x="6" y="6"/>
                  </a:lnTo>
                  <a:lnTo>
                    <a:pt x="0" y="0"/>
                  </a:lnTo>
                  <a:lnTo>
                    <a:pt x="29" y="18"/>
                  </a:lnTo>
                  <a:lnTo>
                    <a:pt x="53" y="18"/>
                  </a:lnTo>
                  <a:lnTo>
                    <a:pt x="59" y="30"/>
                  </a:lnTo>
                  <a:lnTo>
                    <a:pt x="65" y="42"/>
                  </a:lnTo>
                  <a:lnTo>
                    <a:pt x="71" y="54"/>
                  </a:lnTo>
                  <a:lnTo>
                    <a:pt x="71" y="60"/>
                  </a:lnTo>
                  <a:lnTo>
                    <a:pt x="59" y="54"/>
                  </a:lnTo>
                  <a:lnTo>
                    <a:pt x="47" y="42"/>
                  </a:lnTo>
                  <a:lnTo>
                    <a:pt x="23" y="30"/>
                  </a:lnTo>
                  <a:lnTo>
                    <a:pt x="23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6" y="48"/>
                  </a:lnTo>
                  <a:lnTo>
                    <a:pt x="6" y="3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038" name="Freeform 20"/>
            <p:cNvSpPr>
              <a:spLocks/>
            </p:cNvSpPr>
            <p:nvPr/>
          </p:nvSpPr>
          <p:spPr bwMode="auto">
            <a:xfrm>
              <a:off x="855" y="3842"/>
              <a:ext cx="161" cy="164"/>
            </a:xfrm>
            <a:custGeom>
              <a:avLst/>
              <a:gdLst>
                <a:gd name="T0" fmla="*/ 30 w 161"/>
                <a:gd name="T1" fmla="*/ 0 h 162"/>
                <a:gd name="T2" fmla="*/ 48 w 161"/>
                <a:gd name="T3" fmla="*/ 6 h 162"/>
                <a:gd name="T4" fmla="*/ 72 w 161"/>
                <a:gd name="T5" fmla="*/ 6 h 162"/>
                <a:gd name="T6" fmla="*/ 114 w 161"/>
                <a:gd name="T7" fmla="*/ 12 h 162"/>
                <a:gd name="T8" fmla="*/ 96 w 161"/>
                <a:gd name="T9" fmla="*/ 54 h 162"/>
                <a:gd name="T10" fmla="*/ 96 w 161"/>
                <a:gd name="T11" fmla="*/ 60 h 162"/>
                <a:gd name="T12" fmla="*/ 102 w 161"/>
                <a:gd name="T13" fmla="*/ 72 h 162"/>
                <a:gd name="T14" fmla="*/ 108 w 161"/>
                <a:gd name="T15" fmla="*/ 84 h 162"/>
                <a:gd name="T16" fmla="*/ 120 w 161"/>
                <a:gd name="T17" fmla="*/ 96 h 162"/>
                <a:gd name="T18" fmla="*/ 143 w 161"/>
                <a:gd name="T19" fmla="*/ 114 h 162"/>
                <a:gd name="T20" fmla="*/ 155 w 161"/>
                <a:gd name="T21" fmla="*/ 138 h 162"/>
                <a:gd name="T22" fmla="*/ 161 w 161"/>
                <a:gd name="T23" fmla="*/ 156 h 162"/>
                <a:gd name="T24" fmla="*/ 161 w 161"/>
                <a:gd name="T25" fmla="*/ 162 h 162"/>
                <a:gd name="T26" fmla="*/ 96 w 161"/>
                <a:gd name="T27" fmla="*/ 102 h 162"/>
                <a:gd name="T28" fmla="*/ 30 w 161"/>
                <a:gd name="T29" fmla="*/ 54 h 162"/>
                <a:gd name="T30" fmla="*/ 0 w 161"/>
                <a:gd name="T31" fmla="*/ 0 h 162"/>
                <a:gd name="T32" fmla="*/ 30 w 161"/>
                <a:gd name="T33" fmla="*/ 0 h 162"/>
                <a:gd name="T34" fmla="*/ 30 w 161"/>
                <a:gd name="T35" fmla="*/ 0 h 16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1" h="162">
                  <a:moveTo>
                    <a:pt x="30" y="0"/>
                  </a:moveTo>
                  <a:lnTo>
                    <a:pt x="48" y="6"/>
                  </a:lnTo>
                  <a:lnTo>
                    <a:pt x="72" y="6"/>
                  </a:lnTo>
                  <a:lnTo>
                    <a:pt x="114" y="12"/>
                  </a:lnTo>
                  <a:lnTo>
                    <a:pt x="96" y="54"/>
                  </a:lnTo>
                  <a:lnTo>
                    <a:pt x="96" y="60"/>
                  </a:lnTo>
                  <a:lnTo>
                    <a:pt x="102" y="72"/>
                  </a:lnTo>
                  <a:lnTo>
                    <a:pt x="108" y="84"/>
                  </a:lnTo>
                  <a:lnTo>
                    <a:pt x="120" y="96"/>
                  </a:lnTo>
                  <a:lnTo>
                    <a:pt x="143" y="114"/>
                  </a:lnTo>
                  <a:lnTo>
                    <a:pt x="155" y="138"/>
                  </a:lnTo>
                  <a:lnTo>
                    <a:pt x="161" y="156"/>
                  </a:lnTo>
                  <a:lnTo>
                    <a:pt x="161" y="162"/>
                  </a:lnTo>
                  <a:lnTo>
                    <a:pt x="96" y="102"/>
                  </a:lnTo>
                  <a:lnTo>
                    <a:pt x="30" y="54"/>
                  </a:lnTo>
                  <a:lnTo>
                    <a:pt x="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039" name="Freeform 21"/>
            <p:cNvSpPr>
              <a:spLocks/>
            </p:cNvSpPr>
            <p:nvPr/>
          </p:nvSpPr>
          <p:spPr bwMode="auto">
            <a:xfrm>
              <a:off x="706" y="3854"/>
              <a:ext cx="59" cy="61"/>
            </a:xfrm>
            <a:custGeom>
              <a:avLst/>
              <a:gdLst>
                <a:gd name="T0" fmla="*/ 59 w 59"/>
                <a:gd name="T1" fmla="*/ 6 h 60"/>
                <a:gd name="T2" fmla="*/ 41 w 59"/>
                <a:gd name="T3" fmla="*/ 30 h 60"/>
                <a:gd name="T4" fmla="*/ 41 w 59"/>
                <a:gd name="T5" fmla="*/ 36 h 60"/>
                <a:gd name="T6" fmla="*/ 47 w 59"/>
                <a:gd name="T7" fmla="*/ 42 h 60"/>
                <a:gd name="T8" fmla="*/ 53 w 59"/>
                <a:gd name="T9" fmla="*/ 54 h 60"/>
                <a:gd name="T10" fmla="*/ 53 w 59"/>
                <a:gd name="T11" fmla="*/ 60 h 60"/>
                <a:gd name="T12" fmla="*/ 47 w 59"/>
                <a:gd name="T13" fmla="*/ 54 h 60"/>
                <a:gd name="T14" fmla="*/ 35 w 59"/>
                <a:gd name="T15" fmla="*/ 48 h 60"/>
                <a:gd name="T16" fmla="*/ 23 w 59"/>
                <a:gd name="T17" fmla="*/ 36 h 60"/>
                <a:gd name="T18" fmla="*/ 17 w 59"/>
                <a:gd name="T19" fmla="*/ 30 h 60"/>
                <a:gd name="T20" fmla="*/ 0 w 59"/>
                <a:gd name="T21" fmla="*/ 0 h 60"/>
                <a:gd name="T22" fmla="*/ 59 w 59"/>
                <a:gd name="T23" fmla="*/ 6 h 60"/>
                <a:gd name="T24" fmla="*/ 59 w 59"/>
                <a:gd name="T25" fmla="*/ 6 h 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9" h="60">
                  <a:moveTo>
                    <a:pt x="59" y="6"/>
                  </a:moveTo>
                  <a:lnTo>
                    <a:pt x="41" y="30"/>
                  </a:lnTo>
                  <a:lnTo>
                    <a:pt x="41" y="36"/>
                  </a:lnTo>
                  <a:lnTo>
                    <a:pt x="47" y="42"/>
                  </a:lnTo>
                  <a:lnTo>
                    <a:pt x="53" y="54"/>
                  </a:lnTo>
                  <a:lnTo>
                    <a:pt x="53" y="60"/>
                  </a:lnTo>
                  <a:lnTo>
                    <a:pt x="47" y="54"/>
                  </a:lnTo>
                  <a:lnTo>
                    <a:pt x="35" y="48"/>
                  </a:lnTo>
                  <a:lnTo>
                    <a:pt x="23" y="36"/>
                  </a:lnTo>
                  <a:lnTo>
                    <a:pt x="17" y="30"/>
                  </a:lnTo>
                  <a:lnTo>
                    <a:pt x="0" y="0"/>
                  </a:lnTo>
                  <a:lnTo>
                    <a:pt x="59" y="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  <p:sp>
          <p:nvSpPr>
            <p:cNvPr id="1040" name="Freeform 22"/>
            <p:cNvSpPr>
              <a:spLocks/>
            </p:cNvSpPr>
            <p:nvPr/>
          </p:nvSpPr>
          <p:spPr bwMode="auto">
            <a:xfrm>
              <a:off x="395" y="3811"/>
              <a:ext cx="245" cy="207"/>
            </a:xfrm>
            <a:custGeom>
              <a:avLst/>
              <a:gdLst>
                <a:gd name="T0" fmla="*/ 233 w 245"/>
                <a:gd name="T1" fmla="*/ 36 h 204"/>
                <a:gd name="T2" fmla="*/ 245 w 245"/>
                <a:gd name="T3" fmla="*/ 42 h 204"/>
                <a:gd name="T4" fmla="*/ 209 w 245"/>
                <a:gd name="T5" fmla="*/ 84 h 204"/>
                <a:gd name="T6" fmla="*/ 143 w 245"/>
                <a:gd name="T7" fmla="*/ 132 h 204"/>
                <a:gd name="T8" fmla="*/ 167 w 245"/>
                <a:gd name="T9" fmla="*/ 156 h 204"/>
                <a:gd name="T10" fmla="*/ 179 w 245"/>
                <a:gd name="T11" fmla="*/ 204 h 204"/>
                <a:gd name="T12" fmla="*/ 77 w 245"/>
                <a:gd name="T13" fmla="*/ 132 h 204"/>
                <a:gd name="T14" fmla="*/ 47 w 245"/>
                <a:gd name="T15" fmla="*/ 84 h 204"/>
                <a:gd name="T16" fmla="*/ 89 w 245"/>
                <a:gd name="T17" fmla="*/ 66 h 204"/>
                <a:gd name="T18" fmla="*/ 59 w 245"/>
                <a:gd name="T19" fmla="*/ 36 h 204"/>
                <a:gd name="T20" fmla="*/ 0 w 245"/>
                <a:gd name="T21" fmla="*/ 12 h 204"/>
                <a:gd name="T22" fmla="*/ 0 w 245"/>
                <a:gd name="T23" fmla="*/ 0 h 204"/>
                <a:gd name="T24" fmla="*/ 6 w 245"/>
                <a:gd name="T25" fmla="*/ 0 h 204"/>
                <a:gd name="T26" fmla="*/ 12 w 245"/>
                <a:gd name="T27" fmla="*/ 0 h 204"/>
                <a:gd name="T28" fmla="*/ 47 w 245"/>
                <a:gd name="T29" fmla="*/ 6 h 204"/>
                <a:gd name="T30" fmla="*/ 77 w 245"/>
                <a:gd name="T31" fmla="*/ 6 h 204"/>
                <a:gd name="T32" fmla="*/ 83 w 245"/>
                <a:gd name="T33" fmla="*/ 6 h 204"/>
                <a:gd name="T34" fmla="*/ 89 w 245"/>
                <a:gd name="T35" fmla="*/ 6 h 204"/>
                <a:gd name="T36" fmla="*/ 101 w 245"/>
                <a:gd name="T37" fmla="*/ 12 h 204"/>
                <a:gd name="T38" fmla="*/ 125 w 245"/>
                <a:gd name="T39" fmla="*/ 12 h 204"/>
                <a:gd name="T40" fmla="*/ 143 w 245"/>
                <a:gd name="T41" fmla="*/ 18 h 204"/>
                <a:gd name="T42" fmla="*/ 149 w 245"/>
                <a:gd name="T43" fmla="*/ 18 h 204"/>
                <a:gd name="T44" fmla="*/ 149 w 245"/>
                <a:gd name="T45" fmla="*/ 18 h 204"/>
                <a:gd name="T46" fmla="*/ 203 w 245"/>
                <a:gd name="T47" fmla="*/ 24 h 204"/>
                <a:gd name="T48" fmla="*/ 233 w 245"/>
                <a:gd name="T49" fmla="*/ 36 h 204"/>
                <a:gd name="T50" fmla="*/ 233 w 245"/>
                <a:gd name="T51" fmla="*/ 36 h 20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5" h="204">
                  <a:moveTo>
                    <a:pt x="233" y="36"/>
                  </a:moveTo>
                  <a:lnTo>
                    <a:pt x="245" y="42"/>
                  </a:lnTo>
                  <a:lnTo>
                    <a:pt x="209" y="84"/>
                  </a:lnTo>
                  <a:lnTo>
                    <a:pt x="143" y="132"/>
                  </a:lnTo>
                  <a:lnTo>
                    <a:pt x="167" y="156"/>
                  </a:lnTo>
                  <a:lnTo>
                    <a:pt x="179" y="204"/>
                  </a:lnTo>
                  <a:lnTo>
                    <a:pt x="77" y="132"/>
                  </a:lnTo>
                  <a:lnTo>
                    <a:pt x="47" y="84"/>
                  </a:lnTo>
                  <a:lnTo>
                    <a:pt x="89" y="66"/>
                  </a:lnTo>
                  <a:lnTo>
                    <a:pt x="59" y="36"/>
                  </a:lnTo>
                  <a:lnTo>
                    <a:pt x="0" y="12"/>
                  </a:ln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47" y="6"/>
                  </a:lnTo>
                  <a:lnTo>
                    <a:pt x="77" y="6"/>
                  </a:lnTo>
                  <a:lnTo>
                    <a:pt x="83" y="6"/>
                  </a:lnTo>
                  <a:lnTo>
                    <a:pt x="89" y="6"/>
                  </a:lnTo>
                  <a:lnTo>
                    <a:pt x="101" y="12"/>
                  </a:lnTo>
                  <a:lnTo>
                    <a:pt x="125" y="12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203" y="24"/>
                  </a:lnTo>
                  <a:lnTo>
                    <a:pt x="233" y="3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s-MX"/>
            </a:p>
          </p:txBody>
        </p:sp>
      </p:grpSp>
      <p:sp>
        <p:nvSpPr>
          <p:cNvPr id="387095" name="Rectangle 2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MX" smtClean="0"/>
              <a:t>Haga clic para cambiar el estilo de título	</a:t>
            </a: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smtClean="0"/>
              <a:t>Haga clic para modificar el estilo de texto del patrón</a:t>
            </a:r>
          </a:p>
          <a:p>
            <a:pPr lvl="1"/>
            <a:r>
              <a:rPr lang="es-MX" smtClean="0"/>
              <a:t>Segundo nivel</a:t>
            </a:r>
          </a:p>
          <a:p>
            <a:pPr lvl="2"/>
            <a:r>
              <a:rPr lang="es-MX" smtClean="0"/>
              <a:t>Tercer nivel</a:t>
            </a:r>
          </a:p>
          <a:p>
            <a:pPr lvl="3"/>
            <a:r>
              <a:rPr lang="es-MX" smtClean="0"/>
              <a:t>Cuarto nivel</a:t>
            </a:r>
          </a:p>
          <a:p>
            <a:pPr lvl="4"/>
            <a:r>
              <a:rPr lang="es-MX" smtClean="0"/>
              <a:t>Quinto nivel</a:t>
            </a:r>
          </a:p>
        </p:txBody>
      </p:sp>
      <p:sp>
        <p:nvSpPr>
          <p:cNvPr id="387097" name="Rectangle 2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87098" name="Rectangle 2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387099" name="Rectangle 2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9F257139-6CE9-4AD6-9BC0-08BF57B9CF44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10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s-MX" sz="4000" b="1" dirty="0" smtClean="0"/>
              <a:t>Medidas adoptadas en la reforma</a:t>
            </a:r>
            <a:br>
              <a:rPr lang="es-MX" sz="4000" b="1" dirty="0" smtClean="0"/>
            </a:br>
            <a:r>
              <a:rPr lang="es-MX" sz="4000" b="1" dirty="0" smtClean="0"/>
              <a:t>energética, escenarios e implicaciones</a:t>
            </a:r>
            <a:br>
              <a:rPr lang="es-MX" sz="4000" b="1" dirty="0" smtClean="0"/>
            </a:br>
            <a:r>
              <a:rPr lang="es-MX" sz="4000" b="1" dirty="0" smtClean="0"/>
              <a:t>previsibles</a:t>
            </a:r>
            <a:r>
              <a:rPr lang="en-US" sz="4400" dirty="0" smtClean="0"/>
              <a:t/>
            </a:r>
            <a:br>
              <a:rPr lang="en-US" sz="4400" dirty="0" smtClean="0"/>
            </a:br>
            <a:endParaRPr lang="es-MX" sz="4400" b="1" dirty="0" smtClean="0">
              <a:effectLst/>
            </a:endParaRPr>
          </a:p>
        </p:txBody>
      </p:sp>
      <p:sp>
        <p:nvSpPr>
          <p:cNvPr id="4116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979613" y="3933825"/>
            <a:ext cx="6400800" cy="1752600"/>
          </a:xfrm>
        </p:spPr>
        <p:txBody>
          <a:bodyPr/>
          <a:lstStyle/>
          <a:p>
            <a:pPr algn="r" eaLnBrk="1" hangingPunct="1">
              <a:defRPr/>
            </a:pPr>
            <a:endParaRPr lang="es-MX" dirty="0" smtClean="0"/>
          </a:p>
          <a:p>
            <a:pPr algn="r" eaLnBrk="1" hangingPunct="1">
              <a:defRPr/>
            </a:pPr>
            <a:r>
              <a:rPr lang="es-MX" dirty="0" smtClean="0">
                <a:effectLst/>
              </a:rPr>
              <a:t>Dr. Arturo </a:t>
            </a:r>
            <a:r>
              <a:rPr lang="es-MX" dirty="0" err="1" smtClean="0">
                <a:effectLst/>
              </a:rPr>
              <a:t>Reinking</a:t>
            </a:r>
            <a:r>
              <a:rPr lang="es-MX" dirty="0" smtClean="0">
                <a:effectLst/>
              </a:rPr>
              <a:t> Cejudo</a:t>
            </a:r>
          </a:p>
          <a:p>
            <a:pPr algn="r" eaLnBrk="1" hangingPunct="1">
              <a:defRPr/>
            </a:pPr>
            <a:r>
              <a:rPr lang="es-MX" dirty="0" smtClean="0">
                <a:effectLst/>
              </a:rPr>
              <a:t>7 de abril de 2016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296119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205038"/>
            <a:ext cx="8064500" cy="3697287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     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(2) Abasto de electricidad:</a:t>
            </a:r>
          </a:p>
          <a:p>
            <a:pPr algn="l" eaLnBrk="1" hangingPunct="1"/>
            <a:r>
              <a:rPr lang="es-MX" dirty="0" smtClean="0">
                <a:effectLst/>
              </a:rPr>
              <a:t>			Participantes por subasta</a:t>
            </a:r>
          </a:p>
          <a:p>
            <a:pPr algn="l" eaLnBrk="1" hangingPunct="1"/>
            <a:r>
              <a:rPr lang="es-MX" dirty="0" smtClean="0">
                <a:effectLst/>
              </a:rPr>
              <a:t>			Inicialmente: energía solar</a:t>
            </a:r>
          </a:p>
          <a:p>
            <a:pPr algn="l" eaLnBrk="1" hangingPunct="1"/>
            <a:r>
              <a:rPr lang="es-MX" dirty="0" smtClean="0">
                <a:effectLst/>
              </a:rPr>
              <a:t>			Incluyendo </a:t>
            </a:r>
            <a:r>
              <a:rPr lang="es-MX" dirty="0" err="1" smtClean="0">
                <a:effectLst/>
              </a:rPr>
              <a:t>Certifcados</a:t>
            </a:r>
            <a:r>
              <a:rPr lang="es-MX" dirty="0" smtClean="0">
                <a:effectLst/>
              </a:rPr>
              <a:t> de</a:t>
            </a:r>
          </a:p>
          <a:p>
            <a:pPr algn="l" eaLnBrk="1" hangingPunct="1"/>
            <a:r>
              <a:rPr lang="es-MX" dirty="0" smtClean="0">
                <a:effectLst/>
              </a:rPr>
              <a:t>			Energías Limpias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296119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060848"/>
            <a:ext cx="8064500" cy="3841477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     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(2) Abasto de electricidad:</a:t>
            </a:r>
          </a:p>
          <a:p>
            <a:pPr algn="l" eaLnBrk="1" hangingPunct="1"/>
            <a:r>
              <a:rPr lang="es-MX" dirty="0" smtClean="0">
                <a:effectLst/>
              </a:rPr>
              <a:t>			Inicialmente: energía solar</a:t>
            </a:r>
          </a:p>
          <a:p>
            <a:pPr algn="l" eaLnBrk="1" hangingPunct="1"/>
            <a:r>
              <a:rPr lang="es-MX" dirty="0" smtClean="0">
                <a:effectLst/>
              </a:rPr>
              <a:t>			Costos de operación 				marginales</a:t>
            </a:r>
          </a:p>
          <a:p>
            <a:pPr algn="l" eaLnBrk="1" hangingPunct="1"/>
            <a:r>
              <a:rPr lang="es-MX" dirty="0" smtClean="0">
                <a:effectLst/>
              </a:rPr>
              <a:t>			Compite con generación 				fósil			</a:t>
            </a:r>
          </a:p>
          <a:p>
            <a:pPr algn="l" eaLnBrk="1" hangingPunct="1"/>
            <a:r>
              <a:rPr lang="es-MX" dirty="0" smtClean="0">
                <a:effectLst/>
              </a:rPr>
              <a:t>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296119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1916832"/>
            <a:ext cx="8064500" cy="4536504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     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(2) Abasto de electricidad:</a:t>
            </a:r>
          </a:p>
          <a:p>
            <a:pPr algn="l" eaLnBrk="1" hangingPunct="1"/>
            <a:r>
              <a:rPr lang="es-MX" dirty="0" smtClean="0">
                <a:effectLst/>
              </a:rPr>
              <a:t>			Inicialmente: energía solar</a:t>
            </a:r>
          </a:p>
          <a:p>
            <a:pPr algn="l" eaLnBrk="1" hangingPunct="1"/>
            <a:r>
              <a:rPr lang="es-MX" dirty="0" smtClean="0">
                <a:effectLst/>
              </a:rPr>
              <a:t>			Costos de operación 				marginales</a:t>
            </a:r>
          </a:p>
          <a:p>
            <a:pPr algn="l" eaLnBrk="1" hangingPunct="1"/>
            <a:r>
              <a:rPr lang="es-MX" dirty="0" smtClean="0">
                <a:effectLst/>
              </a:rPr>
              <a:t>			Requiere respaldo de 				capacidad por  la 					intermitencia</a:t>
            </a:r>
          </a:p>
          <a:p>
            <a:pPr algn="l" eaLnBrk="1" hangingPunct="1"/>
            <a:r>
              <a:rPr lang="es-MX" dirty="0" smtClean="0">
                <a:effectLst/>
              </a:rPr>
              <a:t>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296119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1916832"/>
            <a:ext cx="8064500" cy="4536504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     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(2) Abasto de electricidad:</a:t>
            </a:r>
          </a:p>
          <a:p>
            <a:pPr algn="l" eaLnBrk="1" hangingPunct="1"/>
            <a:r>
              <a:rPr lang="es-MX" dirty="0" smtClean="0">
                <a:effectLst/>
              </a:rPr>
              <a:t>			Costos de operación 				marginales</a:t>
            </a:r>
          </a:p>
          <a:p>
            <a:pPr algn="l" eaLnBrk="1" hangingPunct="1"/>
            <a:r>
              <a:rPr lang="es-MX" dirty="0" smtClean="0">
                <a:effectLst/>
              </a:rPr>
              <a:t>			Respaldo de capacidad por  			intermitencia</a:t>
            </a:r>
          </a:p>
          <a:p>
            <a:pPr algn="l" eaLnBrk="1" hangingPunct="1"/>
            <a:r>
              <a:rPr lang="es-MX" dirty="0" smtClean="0">
                <a:effectLst/>
              </a:rPr>
              <a:t>			Binomio embalses - </a:t>
            </a:r>
            <a:r>
              <a:rPr lang="es-MX" dirty="0" err="1" smtClean="0">
                <a:effectLst/>
              </a:rPr>
              <a:t>hidro</a:t>
            </a:r>
            <a:endParaRPr lang="es-MX" dirty="0" smtClean="0">
              <a:effectLst/>
            </a:endParaRPr>
          </a:p>
          <a:p>
            <a:pPr algn="l" eaLnBrk="1" hangingPunct="1"/>
            <a:r>
              <a:rPr lang="es-MX" dirty="0" smtClean="0">
                <a:effectLst/>
              </a:rPr>
              <a:t>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205038"/>
            <a:ext cx="8064500" cy="3697287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      (-) Compañías extranjeras :		       preparándose para formar y</a:t>
            </a:r>
          </a:p>
          <a:p>
            <a:pPr algn="l" eaLnBrk="1" hangingPunct="1"/>
            <a:r>
              <a:rPr lang="es-MX" dirty="0" smtClean="0">
                <a:effectLst/>
              </a:rPr>
              <a:t>		       operar redes de estaciones 		       de servicio en México</a:t>
            </a:r>
          </a:p>
          <a:p>
            <a:pPr algn="l" eaLnBrk="1" hangingPunct="1"/>
            <a:r>
              <a:rPr lang="es-MX" dirty="0" smtClean="0">
                <a:effectLst/>
              </a:rPr>
              <a:t>		       Origen de los combustibles ? </a:t>
            </a:r>
          </a:p>
          <a:p>
            <a:pPr algn="l" eaLnBrk="1" hangingPunct="1"/>
            <a:endParaRPr lang="es-MX" dirty="0" smtClean="0">
              <a:effectLst/>
            </a:endParaRPr>
          </a:p>
          <a:p>
            <a:pPr algn="l" eaLnBrk="1" hangingPunct="1"/>
            <a:r>
              <a:rPr lang="es-MX" dirty="0" smtClean="0">
                <a:effectLst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Alcance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205038"/>
            <a:ext cx="8064500" cy="3697287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Dos ámbitos: </a:t>
            </a:r>
            <a:r>
              <a:rPr lang="es-MX" b="1" dirty="0" smtClean="0">
                <a:solidFill>
                  <a:srgbClr val="FF0000"/>
                </a:solidFill>
                <a:effectLst/>
              </a:rPr>
              <a:t>(1) hidrocarburos</a:t>
            </a:r>
          </a:p>
          <a:p>
            <a:pPr algn="l" eaLnBrk="1" hangingPunct="1"/>
            <a:r>
              <a:rPr lang="es-MX" dirty="0" smtClean="0">
                <a:effectLst/>
              </a:rPr>
              <a:t>			Nuevos mercados:      </a:t>
            </a:r>
          </a:p>
          <a:p>
            <a:pPr algn="l" eaLnBrk="1" hangingPunct="1"/>
            <a:r>
              <a:rPr lang="es-MX" dirty="0" smtClean="0">
                <a:effectLst/>
              </a:rPr>
              <a:t>                        (-) PEMEX preparándose      			para formar y operar redes           			de estaciones 	de servicio 			en EEUU</a:t>
            </a:r>
          </a:p>
          <a:p>
            <a:pPr algn="l" eaLnBrk="1" hangingPunct="1"/>
            <a:r>
              <a:rPr lang="es-MX" dirty="0" smtClean="0">
                <a:effectLst/>
              </a:rPr>
              <a:t>		       Origen de los combustibles ? </a:t>
            </a:r>
          </a:p>
          <a:p>
            <a:pPr algn="l" eaLnBrk="1" hangingPunct="1"/>
            <a:endParaRPr lang="es-MX" dirty="0" smtClean="0">
              <a:effectLst/>
            </a:endParaRPr>
          </a:p>
          <a:p>
            <a:pPr algn="l" eaLnBrk="1" hangingPunct="1"/>
            <a:r>
              <a:rPr lang="es-MX" dirty="0" smtClean="0">
                <a:effectLst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Gracias!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2205038"/>
            <a:ext cx="8064500" cy="3697287"/>
          </a:xfrm>
        </p:spPr>
        <p:txBody>
          <a:bodyPr/>
          <a:lstStyle/>
          <a:p>
            <a:pPr algn="l" eaLnBrk="1" hangingPunct="1"/>
            <a:r>
              <a:rPr lang="es-MX" dirty="0" smtClean="0">
                <a:effectLst/>
              </a:rPr>
              <a:t>		 </a:t>
            </a:r>
          </a:p>
          <a:p>
            <a:pPr algn="l" eaLnBrk="1" hangingPunct="1"/>
            <a:r>
              <a:rPr lang="es-MX" sz="4000" dirty="0" smtClean="0">
                <a:effectLst/>
              </a:rPr>
              <a:t>			Preguntas?</a:t>
            </a:r>
          </a:p>
          <a:p>
            <a:pPr algn="l" eaLnBrk="1" hangingPunct="1"/>
            <a:endParaRPr lang="es-MX" sz="4000" dirty="0" smtClean="0">
              <a:effectLst/>
            </a:endParaRPr>
          </a:p>
          <a:p>
            <a:pPr algn="r" eaLnBrk="1" hangingPunct="1">
              <a:defRPr/>
            </a:pPr>
            <a:r>
              <a:rPr lang="es-MX" sz="4000" dirty="0" smtClean="0">
                <a:effectLst/>
              </a:rPr>
              <a:t>Dr. Arturo </a:t>
            </a:r>
            <a:r>
              <a:rPr lang="es-MX" sz="4000" dirty="0" err="1" smtClean="0">
                <a:effectLst/>
              </a:rPr>
              <a:t>Reinking</a:t>
            </a:r>
            <a:r>
              <a:rPr lang="es-MX" sz="4000" dirty="0" smtClean="0">
                <a:effectLst/>
              </a:rPr>
              <a:t> Cejudo</a:t>
            </a:r>
          </a:p>
          <a:p>
            <a:pPr algn="r" eaLnBrk="1" hangingPunct="1">
              <a:defRPr/>
            </a:pPr>
            <a:r>
              <a:rPr lang="es-MX" sz="4000" dirty="0" smtClean="0">
                <a:effectLst/>
              </a:rPr>
              <a:t>7 de abril de 2016</a:t>
            </a:r>
          </a:p>
          <a:p>
            <a:pPr algn="l" eaLnBrk="1" hangingPunct="1"/>
            <a:endParaRPr lang="es-MX" sz="4000" dirty="0" smtClean="0">
              <a:effectLst/>
            </a:endParaRPr>
          </a:p>
          <a:p>
            <a:pPr algn="l" eaLnBrk="1" hangingPunct="1"/>
            <a:endParaRPr lang="es-MX" dirty="0" smtClean="0">
              <a:effectLst/>
            </a:endParaRPr>
          </a:p>
          <a:p>
            <a:pPr algn="l" eaLnBrk="1" hangingPunct="1"/>
            <a:r>
              <a:rPr lang="es-MX" dirty="0" smtClean="0">
                <a:effectLst/>
              </a:rPr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0825" y="620713"/>
            <a:ext cx="8642350" cy="1512887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dirty="0" smtClean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Alternativas para reducir emisiones de CO2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05038"/>
            <a:ext cx="8064500" cy="3481387"/>
          </a:xfrm>
        </p:spPr>
        <p:txBody>
          <a:bodyPr/>
          <a:lstStyle/>
          <a:p>
            <a:pPr algn="l">
              <a:defRPr/>
            </a:pPr>
            <a:r>
              <a:rPr lang="es-MX" sz="2800" dirty="0" smtClean="0">
                <a:effectLst/>
              </a:rPr>
              <a:t>Reducir en consumo de electricidad en la generación de riqueza: </a:t>
            </a:r>
            <a:r>
              <a:rPr lang="en-US" sz="2800" dirty="0" err="1" smtClean="0"/>
              <a:t>Consumo</a:t>
            </a:r>
            <a:r>
              <a:rPr lang="en-US" sz="2800" dirty="0" smtClean="0"/>
              <a:t> </a:t>
            </a:r>
            <a:r>
              <a:rPr lang="en-US" sz="2800" dirty="0" err="1" smtClean="0"/>
              <a:t>eléctrico</a:t>
            </a:r>
            <a:r>
              <a:rPr lang="en-US" sz="2800" dirty="0" smtClean="0"/>
              <a:t>/PIB  [</a:t>
            </a:r>
            <a:r>
              <a:rPr lang="en-US" sz="2800" i="1" dirty="0" smtClean="0"/>
              <a:t>KWH/US2005$  PPP]  1.34:  34% mayor al de EEUU</a:t>
            </a:r>
          </a:p>
          <a:p>
            <a:pPr algn="l">
              <a:defRPr/>
            </a:pPr>
            <a:r>
              <a:rPr lang="en-US" sz="2800" i="1" dirty="0" smtClean="0"/>
              <a:t>O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dirty="0" smtClean="0"/>
              <a:t>Reducir  la  tasa de emisiones CO2/ unidad  de electricidad generada </a:t>
            </a:r>
            <a:r>
              <a:rPr lang="es-ES" sz="2800" i="1" dirty="0" smtClean="0"/>
              <a:t>[KgCO2/</a:t>
            </a:r>
            <a:r>
              <a:rPr lang="en-US" sz="2800" i="1" dirty="0" smtClean="0"/>
              <a:t>KWH ]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800" i="1" dirty="0" smtClean="0"/>
              <a:t>1.43:  43% mayor al de EEUU</a:t>
            </a:r>
          </a:p>
          <a:p>
            <a:pPr algn="l">
              <a:defRPr/>
            </a:pPr>
            <a:endParaRPr lang="en-US" i="1" dirty="0" smtClean="0"/>
          </a:p>
          <a:p>
            <a:pPr algn="l">
              <a:defRPr/>
            </a:pPr>
            <a:endParaRPr lang="en-US" i="1" dirty="0" smtClean="0"/>
          </a:p>
          <a:p>
            <a:pPr algn="l" eaLnBrk="1" hangingPunct="1">
              <a:defRPr/>
            </a:pPr>
            <a:endParaRPr lang="es-MX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0825" y="620713"/>
            <a:ext cx="8642350" cy="1512887"/>
          </a:xfrm>
        </p:spPr>
        <p:txBody>
          <a:bodyPr/>
          <a:lstStyle/>
          <a:p>
            <a:pPr eaLnBrk="1" hangingPunct="1">
              <a:defRPr/>
            </a:pPr>
            <a:endParaRPr lang="es-MX" sz="4000" dirty="0" smtClean="0"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05038"/>
            <a:ext cx="8064500" cy="3481387"/>
          </a:xfrm>
        </p:spPr>
        <p:txBody>
          <a:bodyPr/>
          <a:lstStyle/>
          <a:p>
            <a:pPr algn="l">
              <a:defRPr/>
            </a:pPr>
            <a:r>
              <a:rPr lang="en-US" sz="2800" i="1" dirty="0" smtClean="0"/>
              <a:t>O</a:t>
            </a:r>
          </a:p>
          <a:p>
            <a:pPr algn="l">
              <a:defRPr/>
            </a:pPr>
            <a:endParaRPr lang="en-US" i="1" dirty="0" smtClean="0"/>
          </a:p>
          <a:p>
            <a:pPr algn="l">
              <a:defRPr/>
            </a:pPr>
            <a:endParaRPr lang="en-US" i="1" dirty="0" smtClean="0"/>
          </a:p>
          <a:p>
            <a:pPr algn="l" eaLnBrk="1" hangingPunct="1">
              <a:defRPr/>
            </a:pPr>
            <a:endParaRPr lang="es-MX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50825" y="620713"/>
            <a:ext cx="8642350" cy="1512887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dirty="0" smtClean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Alternativas para reducir emisiones de CO2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05038"/>
            <a:ext cx="8064500" cy="2952750"/>
          </a:xfrm>
        </p:spPr>
        <p:txBody>
          <a:bodyPr/>
          <a:lstStyle/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dirty="0" smtClean="0">
                <a:solidFill>
                  <a:srgbClr val="FFFF00"/>
                </a:solidFill>
              </a:rPr>
              <a:t>Seleccionan: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s-ES" sz="2800" dirty="0" smtClean="0"/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s-ES" sz="2800" dirty="0" smtClean="0"/>
              <a:t>Reducir  la  tasa de emisiones CO2/ unidad  de electricidad generada </a:t>
            </a:r>
            <a:r>
              <a:rPr lang="es-ES" sz="2800" i="1" dirty="0" smtClean="0"/>
              <a:t>[KgCO2/</a:t>
            </a:r>
            <a:r>
              <a:rPr lang="en-US" sz="2800" i="1" dirty="0" smtClean="0"/>
              <a:t>KWH ]  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800" i="1" dirty="0" smtClean="0"/>
              <a:t>1.43:  43% mayor al de EEUU:</a:t>
            </a:r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endParaRPr lang="en-US" sz="2800" i="1" dirty="0" smtClean="0"/>
          </a:p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800" i="1" dirty="0" smtClean="0">
                <a:solidFill>
                  <a:srgbClr val="FFFF00"/>
                </a:solidFill>
              </a:rPr>
              <a:t>Combustibles y </a:t>
            </a:r>
            <a:r>
              <a:rPr lang="en-US" sz="2800" i="1" dirty="0" err="1" smtClean="0">
                <a:solidFill>
                  <a:srgbClr val="FFFF00"/>
                </a:solidFill>
              </a:rPr>
              <a:t>tecnología</a:t>
            </a:r>
            <a:endParaRPr lang="en-US" sz="2800" i="1" dirty="0" smtClean="0">
              <a:solidFill>
                <a:srgbClr val="FFFF00"/>
              </a:solidFill>
            </a:endParaRPr>
          </a:p>
          <a:p>
            <a:pPr algn="l">
              <a:defRPr/>
            </a:pPr>
            <a:endParaRPr lang="en-US" i="1" dirty="0" smtClean="0"/>
          </a:p>
          <a:p>
            <a:pPr algn="l">
              <a:defRPr/>
            </a:pPr>
            <a:endParaRPr lang="en-US" i="1" dirty="0" smtClean="0"/>
          </a:p>
          <a:p>
            <a:pPr algn="l" eaLnBrk="1" hangingPunct="1">
              <a:defRPr/>
            </a:pPr>
            <a:endParaRPr lang="es-MX" dirty="0" smtClean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404813"/>
            <a:ext cx="8229600" cy="1800225"/>
          </a:xfrm>
        </p:spPr>
        <p:txBody>
          <a:bodyPr/>
          <a:lstStyle/>
          <a:p>
            <a:pPr eaLnBrk="1" hangingPunct="1">
              <a:defRPr/>
            </a:pPr>
            <a:r>
              <a:rPr lang="es-ES" sz="4000" dirty="0" smtClean="0">
                <a:solidFill>
                  <a:schemeClr val="accent2"/>
                </a:solidFill>
                <a:effectLst/>
              </a:rPr>
              <a:t>Reservas probadas de gas natural en trillones de m3</a:t>
            </a:r>
            <a:r>
              <a:rPr lang="es-MX" sz="4000" dirty="0" smtClean="0"/>
              <a:t/>
            </a:r>
            <a:br>
              <a:rPr lang="es-MX" sz="4000" dirty="0" smtClean="0"/>
            </a:br>
            <a:endParaRPr lang="es-MX" sz="4000" b="1" dirty="0" smtClean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11188" y="5589588"/>
            <a:ext cx="8353425" cy="360362"/>
          </a:xfrm>
        </p:spPr>
        <p:txBody>
          <a:bodyPr/>
          <a:lstStyle/>
          <a:p>
            <a:pPr algn="l" eaLnBrk="1" hangingPunct="1"/>
            <a:r>
              <a:rPr lang="es-MX" sz="1600" smtClean="0">
                <a:effectLst/>
              </a:rPr>
              <a:t>Fuente: Cifras  2010,  Anuario  Estadístico 2012 EIA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611188" y="2133600"/>
          <a:ext cx="7993062" cy="252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24"/>
                <a:gridCol w="1360626"/>
                <a:gridCol w="1931105"/>
                <a:gridCol w="1843360"/>
                <a:gridCol w="1849847"/>
              </a:tblGrid>
              <a:tr h="12333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MX" sz="12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j-lt"/>
                          <a:ea typeface="Times New Roman"/>
                        </a:rPr>
                        <a:t>1991</a:t>
                      </a:r>
                      <a:endParaRPr lang="es-MX" sz="2400" dirty="0">
                        <a:latin typeface="+mj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j-lt"/>
                          <a:ea typeface="Times New Roman"/>
                        </a:rPr>
                        <a:t>2001</a:t>
                      </a:r>
                      <a:endParaRPr lang="es-MX" sz="2400" dirty="0">
                        <a:latin typeface="+mj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j-lt"/>
                          <a:ea typeface="Times New Roman"/>
                        </a:rPr>
                        <a:t>2011</a:t>
                      </a:r>
                      <a:endParaRPr lang="es-MX" sz="2400" dirty="0">
                        <a:latin typeface="+mj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j-lt"/>
                          <a:ea typeface="Times New Roman"/>
                        </a:rPr>
                        <a:t>Índice Reservas/producción </a:t>
                      </a:r>
                      <a:endParaRPr lang="es-MX" sz="2400" dirty="0">
                        <a:latin typeface="+mj-lt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  <a:tr h="63733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n-lt"/>
                          <a:ea typeface="Times New Roman"/>
                        </a:rPr>
                        <a:t>China</a:t>
                      </a:r>
                      <a:endParaRPr lang="es-MX" sz="24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1.0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1.4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3.1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n-lt"/>
                          <a:ea typeface="Times New Roman"/>
                        </a:rPr>
                        <a:t>29.8 años</a:t>
                      </a:r>
                      <a:endParaRPr lang="es-MX" sz="24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  <a:tr h="6518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n-lt"/>
                          <a:ea typeface="Times New Roman"/>
                        </a:rPr>
                        <a:t>EEUU</a:t>
                      </a:r>
                      <a:endParaRPr lang="es-MX" sz="24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4.7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5.2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>
                          <a:latin typeface="+mn-lt"/>
                          <a:ea typeface="Times New Roman"/>
                        </a:rPr>
                        <a:t>8.5</a:t>
                      </a:r>
                      <a:endParaRPr lang="es-MX" sz="2400" b="1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400" b="1" dirty="0">
                          <a:latin typeface="+mn-lt"/>
                          <a:ea typeface="Times New Roman"/>
                        </a:rPr>
                        <a:t>13.0 años</a:t>
                      </a:r>
                      <a:endParaRPr lang="es-MX" sz="24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404813"/>
            <a:ext cx="8229600" cy="1800225"/>
          </a:xfrm>
        </p:spPr>
        <p:txBody>
          <a:bodyPr/>
          <a:lstStyle/>
          <a:p>
            <a:pPr eaLnBrk="1" hangingPunct="1">
              <a:defRPr/>
            </a:pPr>
            <a:r>
              <a:rPr lang="es-ES" sz="4000" dirty="0" smtClean="0"/>
              <a:t/>
            </a:r>
            <a:br>
              <a:rPr lang="es-ES" sz="4000" dirty="0" smtClean="0"/>
            </a:br>
            <a:r>
              <a:rPr lang="es-ES" sz="4000" dirty="0" smtClean="0">
                <a:solidFill>
                  <a:schemeClr val="accent2"/>
                </a:solidFill>
                <a:effectLst/>
              </a:rPr>
              <a:t>Carbón (incl. Antracita, carbón bituminoso, </a:t>
            </a:r>
            <a:r>
              <a:rPr lang="es-ES" sz="4000" dirty="0" err="1" smtClean="0">
                <a:solidFill>
                  <a:schemeClr val="accent2"/>
                </a:solidFill>
                <a:effectLst/>
              </a:rPr>
              <a:t>subituminoso</a:t>
            </a:r>
            <a:r>
              <a:rPr lang="es-ES" sz="4000" dirty="0" smtClean="0">
                <a:solidFill>
                  <a:schemeClr val="accent2"/>
                </a:solidFill>
                <a:effectLst/>
              </a:rPr>
              <a:t> y lignito)</a:t>
            </a:r>
            <a:r>
              <a:rPr lang="es-MX" sz="4000" dirty="0" smtClean="0"/>
              <a:t/>
            </a:r>
            <a:br>
              <a:rPr lang="es-MX" sz="4000" dirty="0" smtClean="0"/>
            </a:br>
            <a:r>
              <a:rPr lang="es-MX" sz="4000" dirty="0" smtClean="0"/>
              <a:t/>
            </a:r>
            <a:br>
              <a:rPr lang="es-MX" sz="4000" dirty="0" smtClean="0"/>
            </a:br>
            <a:endParaRPr lang="es-MX" sz="4000" b="1" dirty="0" smtClean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611188" y="5589588"/>
            <a:ext cx="8353425" cy="360362"/>
          </a:xfrm>
        </p:spPr>
        <p:txBody>
          <a:bodyPr/>
          <a:lstStyle/>
          <a:p>
            <a:pPr algn="l" eaLnBrk="1" hangingPunct="1"/>
            <a:r>
              <a:rPr lang="es-MX" sz="1600" smtClean="0">
                <a:effectLst/>
              </a:rPr>
              <a:t>Fuente: Cifras  2010,  Anuario  Estadístico 2012 EIA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611188" y="2133600"/>
          <a:ext cx="7993062" cy="302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34"/>
                <a:gridCol w="2304306"/>
                <a:gridCol w="2160287"/>
                <a:gridCol w="2520335"/>
              </a:tblGrid>
              <a:tr h="159556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Reservas probadas 2011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Miles de MT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Producción 2011 en </a:t>
                      </a:r>
                      <a:r>
                        <a:rPr lang="es-ES" sz="2000" b="1" dirty="0" err="1">
                          <a:latin typeface="Arial"/>
                          <a:ea typeface="Times New Roman"/>
                        </a:rPr>
                        <a:t>MTPe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Índice Reservas</a:t>
                      </a:r>
                      <a:r>
                        <a:rPr lang="es-ES" sz="2000" b="1" dirty="0" smtClean="0">
                          <a:latin typeface="Arial"/>
                          <a:ea typeface="Times New Roman"/>
                        </a:rPr>
                        <a:t>/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 smtClean="0">
                          <a:latin typeface="Arial"/>
                          <a:ea typeface="Times New Roman"/>
                        </a:rPr>
                        <a:t>producción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  <a:tr h="7062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+mn-lt"/>
                          <a:ea typeface="Times New Roman"/>
                        </a:rPr>
                        <a:t>China</a:t>
                      </a:r>
                      <a:endParaRPr lang="es-MX" sz="20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114.5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1,956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33 años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  <a:tr h="7223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+mn-lt"/>
                          <a:ea typeface="Times New Roman"/>
                        </a:rPr>
                        <a:t>EEUU</a:t>
                      </a:r>
                      <a:endParaRPr lang="es-MX" sz="2000" b="1" dirty="0">
                        <a:latin typeface="+mn-lt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237.3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556.8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2000" b="1" dirty="0">
                          <a:latin typeface="Arial"/>
                          <a:ea typeface="Times New Roman"/>
                        </a:rPr>
                        <a:t>239 años</a:t>
                      </a:r>
                      <a:endParaRPr lang="es-MX" sz="2000" dirty="0">
                        <a:latin typeface="Times New Roman"/>
                        <a:ea typeface="Times New Roman"/>
                      </a:endParaRPr>
                    </a:p>
                  </a:txBody>
                  <a:tcPr marL="68581" marR="68581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ES" sz="4000" b="1" dirty="0" smtClean="0">
                <a:solidFill>
                  <a:schemeClr val="accent2"/>
                </a:solidFill>
                <a:effectLst/>
              </a:rPr>
              <a:t>Tendencias recientes</a:t>
            </a:r>
            <a:r>
              <a:rPr lang="es-MX" sz="4000" dirty="0" smtClean="0"/>
              <a:t/>
            </a:r>
            <a:br>
              <a:rPr lang="es-MX" sz="4000" dirty="0" smtClean="0"/>
            </a:br>
            <a:endParaRPr lang="es-MX" sz="4000" b="1" dirty="0" smtClean="0">
              <a:solidFill>
                <a:schemeClr val="accent6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4116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68313" y="1628775"/>
            <a:ext cx="8207375" cy="3671888"/>
          </a:xfrm>
        </p:spPr>
        <p:txBody>
          <a:bodyPr/>
          <a:lstStyle/>
          <a:p>
            <a:pPr>
              <a:defRPr/>
            </a:pPr>
            <a:r>
              <a:rPr lang="es-ES" sz="2000" b="1" dirty="0" smtClean="0"/>
              <a:t> </a:t>
            </a:r>
            <a:endParaRPr lang="es-MX" sz="2000" dirty="0" smtClean="0"/>
          </a:p>
          <a:p>
            <a:pPr>
              <a:defRPr/>
            </a:pPr>
            <a:r>
              <a:rPr lang="es-ES" sz="2000" b="1" dirty="0" smtClean="0"/>
              <a:t>EEUU: </a:t>
            </a:r>
            <a:r>
              <a:rPr lang="es-ES" sz="2000" b="1" dirty="0" smtClean="0">
                <a:solidFill>
                  <a:srgbClr val="FFFF00"/>
                </a:solidFill>
              </a:rPr>
              <a:t>marcado aumento en reservas probadas de gas natural</a:t>
            </a:r>
            <a:r>
              <a:rPr lang="es-ES" sz="2000" b="1" dirty="0" smtClean="0"/>
              <a:t>, no obstante una mayor producción =&gt; puede mantener una tasa de emisiones KgCO2/</a:t>
            </a:r>
            <a:r>
              <a:rPr lang="es-ES" sz="2000" b="1" dirty="0" err="1" smtClean="0"/>
              <a:t>KWh</a:t>
            </a:r>
            <a:r>
              <a:rPr lang="es-ES" sz="2000" b="1" dirty="0" smtClean="0"/>
              <a:t> baja o de KgCO2/US$ de PIB</a:t>
            </a:r>
            <a:endParaRPr lang="es-MX" sz="2000" dirty="0" smtClean="0"/>
          </a:p>
          <a:p>
            <a:pPr>
              <a:defRPr/>
            </a:pPr>
            <a:r>
              <a:rPr lang="es-ES" sz="2000" b="1" dirty="0" smtClean="0"/>
              <a:t> </a:t>
            </a:r>
            <a:endParaRPr lang="es-MX" sz="2000" dirty="0" smtClean="0"/>
          </a:p>
          <a:p>
            <a:pPr>
              <a:defRPr/>
            </a:pPr>
            <a:r>
              <a:rPr lang="es-ES" sz="2000" b="1" dirty="0" smtClean="0"/>
              <a:t>CHINA: reservas probadas de gas natural no tan altas y no están produciendo tan intensivamente, </a:t>
            </a:r>
            <a:r>
              <a:rPr lang="es-ES" sz="2000" b="1" dirty="0" smtClean="0">
                <a:solidFill>
                  <a:srgbClr val="FFFF00"/>
                </a:solidFill>
              </a:rPr>
              <a:t>pero  sus reservas de carbón </a:t>
            </a:r>
            <a:r>
              <a:rPr lang="es-ES" sz="2000" b="1" dirty="0" smtClean="0"/>
              <a:t>equivalen a la mitad de las de EEUU y explotándolas </a:t>
            </a:r>
            <a:r>
              <a:rPr lang="es-ES" sz="2000" b="1" dirty="0" smtClean="0">
                <a:solidFill>
                  <a:srgbClr val="FFFF00"/>
                </a:solidFill>
              </a:rPr>
              <a:t>a un tasa claramente mayor.</a:t>
            </a:r>
            <a:endParaRPr lang="es-MX" sz="2000" dirty="0" smtClean="0">
              <a:solidFill>
                <a:srgbClr val="FFFF00"/>
              </a:solidFill>
            </a:endParaRPr>
          </a:p>
          <a:p>
            <a:pPr>
              <a:defRPr/>
            </a:pPr>
            <a:r>
              <a:rPr lang="es-ES" sz="2000" b="1" dirty="0" smtClean="0"/>
              <a:t> </a:t>
            </a:r>
            <a:endParaRPr lang="es-MX" sz="2000" dirty="0" smtClean="0"/>
          </a:p>
          <a:p>
            <a:pPr algn="l">
              <a:defRPr/>
            </a:pPr>
            <a:r>
              <a:rPr lang="es-ES" sz="2000" b="1" dirty="0" smtClean="0">
                <a:solidFill>
                  <a:srgbClr val="FFFF00"/>
                </a:solidFill>
              </a:rPr>
              <a:t>CHINA necesita un nuevo esquema para reducir su tasa de emisiones KgCO2/US$ de PIB para poder competir y seguir creciendo</a:t>
            </a:r>
            <a:endParaRPr lang="es-MX" sz="2000" dirty="0" smtClean="0">
              <a:solidFill>
                <a:srgbClr val="FFFF00"/>
              </a:solidFill>
            </a:endParaRPr>
          </a:p>
          <a:p>
            <a:pPr algn="l" eaLnBrk="1" hangingPunct="1">
              <a:defRPr/>
            </a:pPr>
            <a:endParaRPr lang="en-US" dirty="0" smtClean="0"/>
          </a:p>
          <a:p>
            <a:pPr algn="l" eaLnBrk="1" hangingPunct="1">
              <a:defRPr/>
            </a:pPr>
            <a:endParaRPr lang="es-ES_tradnl" dirty="0" smtClean="0"/>
          </a:p>
          <a:p>
            <a:pPr algn="l" eaLnBrk="1" hangingPunct="1">
              <a:defRPr/>
            </a:pPr>
            <a:endParaRPr lang="es-ES_tradnl" dirty="0" smtClean="0"/>
          </a:p>
          <a:p>
            <a:pPr algn="l" eaLnBrk="1" hangingPunct="1">
              <a:defRPr/>
            </a:pPr>
            <a:endParaRPr lang="es-ES_tradn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dirty="0" smtClean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Las orientaciones estratégicas de China (1)</a:t>
            </a:r>
          </a:p>
        </p:txBody>
      </p:sp>
      <p:sp>
        <p:nvSpPr>
          <p:cNvPr id="4116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76475"/>
            <a:ext cx="8064500" cy="3240088"/>
          </a:xfrm>
        </p:spPr>
        <p:txBody>
          <a:bodyPr/>
          <a:lstStyle/>
          <a:p>
            <a:pPr algn="l" eaLnBrk="1" hangingPunct="1">
              <a:defRPr/>
            </a:pPr>
            <a:r>
              <a:rPr lang="es-ES_tradnl" dirty="0" smtClean="0">
                <a:solidFill>
                  <a:srgbClr val="FFFF00"/>
                </a:solidFill>
                <a:effectLst/>
              </a:rPr>
              <a:t>Construcción masiva de </a:t>
            </a:r>
            <a:r>
              <a:rPr lang="es-ES_tradnl" dirty="0" err="1" smtClean="0">
                <a:solidFill>
                  <a:srgbClr val="FFFF00"/>
                </a:solidFill>
                <a:effectLst/>
              </a:rPr>
              <a:t>carboeléctricas</a:t>
            </a:r>
            <a:r>
              <a:rPr lang="es-ES_tradnl" dirty="0" smtClean="0">
                <a:solidFill>
                  <a:srgbClr val="FFFF00"/>
                </a:solidFill>
                <a:effectLst/>
              </a:rPr>
              <a:t> supercríticas</a:t>
            </a:r>
          </a:p>
          <a:p>
            <a:pPr algn="l" eaLnBrk="1" hangingPunct="1">
              <a:buFont typeface="Arial" pitchFamily="34" charset="0"/>
              <a:buChar char="•"/>
              <a:defRPr/>
            </a:pPr>
            <a:r>
              <a:rPr lang="es-ES_tradnl" dirty="0" smtClean="0">
                <a:effectLst/>
              </a:rPr>
              <a:t> Eficiencia pasa de [27% al 36%] -&gt; 44%</a:t>
            </a:r>
          </a:p>
          <a:p>
            <a:pPr algn="l" eaLnBrk="1" hangingPunct="1">
              <a:buFont typeface="Arial" pitchFamily="34" charset="0"/>
              <a:buChar char="•"/>
              <a:defRPr/>
            </a:pPr>
            <a:endParaRPr lang="es-ES_tradnl" u="sng" dirty="0" smtClean="0">
              <a:effectLst/>
            </a:endParaRPr>
          </a:p>
          <a:p>
            <a:pPr algn="l" eaLnBrk="1" hangingPunct="1">
              <a:buFont typeface="Arial" pitchFamily="34" charset="0"/>
              <a:buChar char="•"/>
              <a:defRPr/>
            </a:pPr>
            <a:r>
              <a:rPr lang="en-US" sz="3000" dirty="0" smtClean="0">
                <a:effectLst/>
              </a:rPr>
              <a:t> </a:t>
            </a:r>
            <a:r>
              <a:rPr lang="en-US" sz="3000" dirty="0" err="1" smtClean="0">
                <a:effectLst/>
              </a:rPr>
              <a:t>Costos</a:t>
            </a:r>
            <a:r>
              <a:rPr lang="en-US" sz="3000" dirty="0" smtClean="0">
                <a:effectLst/>
              </a:rPr>
              <a:t> de inversión:1/3 de </a:t>
            </a:r>
            <a:r>
              <a:rPr lang="en-US" sz="3000" dirty="0" err="1" smtClean="0">
                <a:effectLst/>
              </a:rPr>
              <a:t>carboeléctricas</a:t>
            </a:r>
            <a:r>
              <a:rPr lang="en-US" sz="3000" dirty="0" smtClean="0">
                <a:effectLst/>
              </a:rPr>
              <a:t> en EEUU</a:t>
            </a:r>
          </a:p>
          <a:p>
            <a:pPr algn="l" eaLnBrk="1" hangingPunct="1">
              <a:defRPr/>
            </a:pPr>
            <a:endParaRPr lang="es-ES_tradnl" b="1" dirty="0" smtClean="0">
              <a:effectLst/>
            </a:endParaRPr>
          </a:p>
          <a:p>
            <a:pPr algn="l" eaLnBrk="1" hangingPunct="1">
              <a:defRPr/>
            </a:pPr>
            <a:endParaRPr lang="es-ES_tradn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620713"/>
            <a:ext cx="8229600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dirty="0" smtClean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Las orientaciones estratégicas de China (2)</a:t>
            </a:r>
          </a:p>
        </p:txBody>
      </p:sp>
      <p:sp>
        <p:nvSpPr>
          <p:cNvPr id="4116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76475"/>
            <a:ext cx="8208963" cy="3240088"/>
          </a:xfrm>
        </p:spPr>
        <p:txBody>
          <a:bodyPr/>
          <a:lstStyle/>
          <a:p>
            <a:pPr algn="l" eaLnBrk="1" hangingPunct="1">
              <a:defRPr/>
            </a:pPr>
            <a:r>
              <a:rPr lang="es-ES_tradnl" dirty="0" smtClean="0">
                <a:solidFill>
                  <a:srgbClr val="FFFF00"/>
                </a:solidFill>
                <a:effectLst/>
              </a:rPr>
              <a:t>Programa de desarrollo y construcción de reactores nucleares de sales fundidas, combustible Torio</a:t>
            </a:r>
          </a:p>
          <a:p>
            <a:pPr algn="l" eaLnBrk="1" hangingPunct="1">
              <a:buFont typeface="Arial" pitchFamily="34" charset="0"/>
              <a:buChar char="•"/>
              <a:defRPr/>
            </a:pPr>
            <a:r>
              <a:rPr lang="es-ES_tradnl" dirty="0" smtClean="0"/>
              <a:t> RSF más seguro </a:t>
            </a:r>
          </a:p>
          <a:p>
            <a:pPr algn="l" eaLnBrk="1" hangingPunct="1">
              <a:buFont typeface="Arial" pitchFamily="34" charset="0"/>
              <a:buChar char="•"/>
              <a:defRPr/>
            </a:pPr>
            <a:r>
              <a:rPr lang="es-ES_tradnl" dirty="0" smtClean="0"/>
              <a:t> Torio más abundante que Uranio</a:t>
            </a:r>
          </a:p>
          <a:p>
            <a:pPr algn="l" eaLnBrk="1" hangingPunct="1">
              <a:buFont typeface="Arial" pitchFamily="34" charset="0"/>
              <a:buChar char="•"/>
              <a:defRPr/>
            </a:pPr>
            <a:r>
              <a:rPr lang="es-ES_tradnl" dirty="0" smtClean="0"/>
              <a:t> Proliferación a armamento más difícil en ciclo de torio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95288" y="620713"/>
            <a:ext cx="8424862" cy="1736725"/>
          </a:xfrm>
        </p:spPr>
        <p:txBody>
          <a:bodyPr/>
          <a:lstStyle/>
          <a:p>
            <a:pPr eaLnBrk="1" hangingPunct="1">
              <a:defRPr/>
            </a:pPr>
            <a:r>
              <a:rPr lang="es-MX" sz="4000" dirty="0" smtClean="0">
                <a:solidFill>
                  <a:schemeClr val="accent6">
                    <a:lumMod val="40000"/>
                    <a:lumOff val="60000"/>
                  </a:schemeClr>
                </a:solidFill>
                <a:effectLst/>
              </a:rPr>
              <a:t>Medidas anteriores a esas orientaciones estratégicas de China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39750" y="2276475"/>
            <a:ext cx="8208963" cy="3240088"/>
          </a:xfrm>
        </p:spPr>
        <p:txBody>
          <a:bodyPr/>
          <a:lstStyle/>
          <a:p>
            <a:pPr algn="l" eaLnBrk="1" hangingPunct="1"/>
            <a:endParaRPr lang="es-ES_tradnl" smtClean="0">
              <a:effectLst/>
            </a:endParaRPr>
          </a:p>
          <a:p>
            <a:pPr algn="l" eaLnBrk="1" hangingPunct="1">
              <a:buFontTx/>
              <a:buChar char="•"/>
            </a:pPr>
            <a:r>
              <a:rPr lang="es-ES_tradnl" smtClean="0">
                <a:effectLst/>
              </a:rPr>
              <a:t> Ya está construyendo  más reactores de    potencia que  </a:t>
            </a:r>
            <a:r>
              <a:rPr lang="es-ES_tradnl" smtClean="0">
                <a:solidFill>
                  <a:srgbClr val="FFFF00"/>
                </a:solidFill>
                <a:effectLst/>
              </a:rPr>
              <a:t>todo el resto del mundo</a:t>
            </a:r>
          </a:p>
          <a:p>
            <a:pPr algn="l" eaLnBrk="1" hangingPunct="1">
              <a:buFontTx/>
              <a:buChar char="•"/>
            </a:pPr>
            <a:endParaRPr lang="es-ES_tradnl" sz="1000" smtClean="0">
              <a:effectLst/>
            </a:endParaRPr>
          </a:p>
          <a:p>
            <a:pPr algn="l" eaLnBrk="1" hangingPunct="1">
              <a:buFontTx/>
              <a:buChar char="•"/>
            </a:pPr>
            <a:r>
              <a:rPr lang="es-ES_tradnl" smtClean="0">
                <a:effectLst/>
              </a:rPr>
              <a:t> Energía eólica: ha </a:t>
            </a:r>
            <a:r>
              <a:rPr lang="es-ES_tradnl" smtClean="0">
                <a:solidFill>
                  <a:srgbClr val="FFFF00"/>
                </a:solidFill>
                <a:effectLst/>
              </a:rPr>
              <a:t>duplicado la capacidad de generación eoloeléctrica cada uno de los cuatro años </a:t>
            </a:r>
            <a:r>
              <a:rPr lang="es-ES_tradnl" smtClean="0">
                <a:effectLst/>
              </a:rPr>
              <a:t>entre 2005 y 2008.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229600" cy="2016125"/>
          </a:xfrm>
        </p:spPr>
        <p:txBody>
          <a:bodyPr/>
          <a:lstStyle/>
          <a:p>
            <a:pPr eaLnBrk="1" hangingPunct="1">
              <a:defRPr/>
            </a:pPr>
            <a:r>
              <a:rPr lang="es-MX" sz="4400" dirty="0" smtClean="0"/>
              <a:t>Tecnologías y recursos para la generación de electricidad a mediano plazo </a:t>
            </a:r>
            <a:r>
              <a:rPr lang="es-MX" sz="4400" b="1" dirty="0" smtClean="0"/>
              <a:t/>
            </a:r>
            <a:br>
              <a:rPr lang="es-MX" sz="4400" b="1" dirty="0" smtClean="0"/>
            </a:br>
            <a:endParaRPr lang="es-MX" sz="4400" b="1" dirty="0" smtClean="0"/>
          </a:p>
        </p:txBody>
      </p:sp>
      <p:sp>
        <p:nvSpPr>
          <p:cNvPr id="41165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95288" y="2924175"/>
            <a:ext cx="8569325" cy="2017713"/>
          </a:xfrm>
        </p:spPr>
        <p:txBody>
          <a:bodyPr/>
          <a:lstStyle/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sz="4000" dirty="0" smtClean="0">
                <a:effectLst/>
              </a:rPr>
              <a:t>GRACIAS</a:t>
            </a:r>
          </a:p>
          <a:p>
            <a:pPr eaLnBrk="1" hangingPunct="1">
              <a:defRPr/>
            </a:pPr>
            <a:r>
              <a:rPr lang="en-US" sz="4000" dirty="0" smtClean="0">
                <a:effectLst/>
              </a:rPr>
              <a:t>¿PREGUNTAS?</a:t>
            </a:r>
            <a:r>
              <a:rPr lang="es-ES_tradnl" sz="4000" dirty="0" smtClean="0">
                <a:effectLst/>
              </a:rPr>
              <a:t> </a:t>
            </a:r>
            <a:endParaRPr lang="en-US" sz="4000" dirty="0" smtClean="0">
              <a:effectLst/>
            </a:endParaRPr>
          </a:p>
          <a:p>
            <a:pPr algn="l" eaLnBrk="1" hangingPunct="1">
              <a:defRPr/>
            </a:pPr>
            <a:endParaRPr lang="es-ES_tradnl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untain Top">
  <a:themeElements>
    <a:clrScheme name="Mountain Top 5">
      <a:dk1>
        <a:srgbClr val="463416"/>
      </a:dk1>
      <a:lt1>
        <a:srgbClr val="FFFFFF"/>
      </a:lt1>
      <a:dk2>
        <a:srgbClr val="003399"/>
      </a:dk2>
      <a:lt2>
        <a:srgbClr val="E3E3FF"/>
      </a:lt2>
      <a:accent1>
        <a:srgbClr val="3399FF"/>
      </a:accent1>
      <a:accent2>
        <a:srgbClr val="33CCCC"/>
      </a:accent2>
      <a:accent3>
        <a:srgbClr val="AAADCA"/>
      </a:accent3>
      <a:accent4>
        <a:srgbClr val="DADADA"/>
      </a:accent4>
      <a:accent5>
        <a:srgbClr val="ADCAFF"/>
      </a:accent5>
      <a:accent6>
        <a:srgbClr val="2DB9B9"/>
      </a:accent6>
      <a:hlink>
        <a:srgbClr val="00FFCC"/>
      </a:hlink>
      <a:folHlink>
        <a:srgbClr val="808000"/>
      </a:folHlink>
    </a:clrScheme>
    <a:fontScheme name="Mountain To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untain Top 1">
        <a:dk1>
          <a:srgbClr val="4C3A1C"/>
        </a:dk1>
        <a:lt1>
          <a:srgbClr val="FFFFFF"/>
        </a:lt1>
        <a:dk2>
          <a:srgbClr val="993300"/>
        </a:dk2>
        <a:lt2>
          <a:srgbClr val="CCAA00"/>
        </a:lt2>
        <a:accent1>
          <a:srgbClr val="FF3300"/>
        </a:accent1>
        <a:accent2>
          <a:srgbClr val="9E6600"/>
        </a:accent2>
        <a:accent3>
          <a:srgbClr val="CAADAA"/>
        </a:accent3>
        <a:accent4>
          <a:srgbClr val="DADADA"/>
        </a:accent4>
        <a:accent5>
          <a:srgbClr val="FFADAA"/>
        </a:accent5>
        <a:accent6>
          <a:srgbClr val="8F5C00"/>
        </a:accent6>
        <a:hlink>
          <a:srgbClr val="FFCC00"/>
        </a:hlink>
        <a:folHlink>
          <a:srgbClr val="F7DC9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2">
        <a:dk1>
          <a:srgbClr val="3D0058"/>
        </a:dk1>
        <a:lt1>
          <a:srgbClr val="FFFFFF"/>
        </a:lt1>
        <a:dk2>
          <a:srgbClr val="9188B0"/>
        </a:dk2>
        <a:lt2>
          <a:srgbClr val="DDE0DC"/>
        </a:lt2>
        <a:accent1>
          <a:srgbClr val="FFCC00"/>
        </a:accent1>
        <a:accent2>
          <a:srgbClr val="4C3D78"/>
        </a:accent2>
        <a:accent3>
          <a:srgbClr val="C7C3D4"/>
        </a:accent3>
        <a:accent4>
          <a:srgbClr val="DADADA"/>
        </a:accent4>
        <a:accent5>
          <a:srgbClr val="FFE2AA"/>
        </a:accent5>
        <a:accent6>
          <a:srgbClr val="44366C"/>
        </a:accent6>
        <a:hlink>
          <a:srgbClr val="743D78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3">
        <a:dk1>
          <a:srgbClr val="10104C"/>
        </a:dk1>
        <a:lt1>
          <a:srgbClr val="FFFFFF"/>
        </a:lt1>
        <a:dk2>
          <a:srgbClr val="003366"/>
        </a:dk2>
        <a:lt2>
          <a:srgbClr val="C6CCD4"/>
        </a:lt2>
        <a:accent1>
          <a:srgbClr val="33CCFF"/>
        </a:accent1>
        <a:accent2>
          <a:srgbClr val="5B5B8D"/>
        </a:accent2>
        <a:accent3>
          <a:srgbClr val="AAADB8"/>
        </a:accent3>
        <a:accent4>
          <a:srgbClr val="DADADA"/>
        </a:accent4>
        <a:accent5>
          <a:srgbClr val="ADE2FF"/>
        </a:accent5>
        <a:accent6>
          <a:srgbClr val="52527F"/>
        </a:accent6>
        <a:hlink>
          <a:srgbClr val="4529AB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4">
        <a:dk1>
          <a:srgbClr val="B0C8CA"/>
        </a:dk1>
        <a:lt1>
          <a:srgbClr val="FFFFFF"/>
        </a:lt1>
        <a:dk2>
          <a:srgbClr val="000099"/>
        </a:dk2>
        <a:lt2>
          <a:srgbClr val="FFFFFF"/>
        </a:lt2>
        <a:accent1>
          <a:srgbClr val="89C4FF"/>
        </a:accent1>
        <a:accent2>
          <a:srgbClr val="00008C"/>
        </a:accent2>
        <a:accent3>
          <a:srgbClr val="AAAACA"/>
        </a:accent3>
        <a:accent4>
          <a:srgbClr val="DADADA"/>
        </a:accent4>
        <a:accent5>
          <a:srgbClr val="C4DEFF"/>
        </a:accent5>
        <a:accent6>
          <a:srgbClr val="00007E"/>
        </a:accent6>
        <a:hlink>
          <a:srgbClr val="6666FF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5">
        <a:dk1>
          <a:srgbClr val="463416"/>
        </a:dk1>
        <a:lt1>
          <a:srgbClr val="FFFFFF"/>
        </a:lt1>
        <a:dk2>
          <a:srgbClr val="003399"/>
        </a:dk2>
        <a:lt2>
          <a:srgbClr val="E3E3FF"/>
        </a:lt2>
        <a:accent1>
          <a:srgbClr val="3399FF"/>
        </a:accent1>
        <a:accent2>
          <a:srgbClr val="33CCCC"/>
        </a:accent2>
        <a:accent3>
          <a:srgbClr val="AAADCA"/>
        </a:accent3>
        <a:accent4>
          <a:srgbClr val="DADADA"/>
        </a:accent4>
        <a:accent5>
          <a:srgbClr val="ADCAFF"/>
        </a:accent5>
        <a:accent6>
          <a:srgbClr val="2DB9B9"/>
        </a:accent6>
        <a:hlink>
          <a:srgbClr val="00FFCC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6">
        <a:dk1>
          <a:srgbClr val="809296"/>
        </a:dk1>
        <a:lt1>
          <a:srgbClr val="FFFFFF"/>
        </a:lt1>
        <a:dk2>
          <a:srgbClr val="6699FF"/>
        </a:dk2>
        <a:lt2>
          <a:srgbClr val="B3EDFF"/>
        </a:lt2>
        <a:accent1>
          <a:srgbClr val="FF9933"/>
        </a:accent1>
        <a:accent2>
          <a:srgbClr val="FFAA99"/>
        </a:accent2>
        <a:accent3>
          <a:srgbClr val="B8CAFF"/>
        </a:accent3>
        <a:accent4>
          <a:srgbClr val="DADADA"/>
        </a:accent4>
        <a:accent5>
          <a:srgbClr val="FFCAAD"/>
        </a:accent5>
        <a:accent6>
          <a:srgbClr val="E79A8A"/>
        </a:accent6>
        <a:hlink>
          <a:srgbClr val="FFCFA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7">
        <a:dk1>
          <a:srgbClr val="006666"/>
        </a:dk1>
        <a:lt1>
          <a:srgbClr val="FFFFFF"/>
        </a:lt1>
        <a:dk2>
          <a:srgbClr val="85D1E3"/>
        </a:dk2>
        <a:lt2>
          <a:srgbClr val="CCFFFF"/>
        </a:lt2>
        <a:accent1>
          <a:srgbClr val="FFCC00"/>
        </a:accent1>
        <a:accent2>
          <a:srgbClr val="00CC99"/>
        </a:accent2>
        <a:accent3>
          <a:srgbClr val="C2E5EF"/>
        </a:accent3>
        <a:accent4>
          <a:srgbClr val="DADADA"/>
        </a:accent4>
        <a:accent5>
          <a:srgbClr val="FFE2AA"/>
        </a:accent5>
        <a:accent6>
          <a:srgbClr val="00B98A"/>
        </a:accent6>
        <a:hlink>
          <a:srgbClr val="0099FF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8">
        <a:dk1>
          <a:srgbClr val="404B3D"/>
        </a:dk1>
        <a:lt1>
          <a:srgbClr val="FFFFFF"/>
        </a:lt1>
        <a:dk2>
          <a:srgbClr val="A7A491"/>
        </a:dk2>
        <a:lt2>
          <a:srgbClr val="CCD0CA"/>
        </a:lt2>
        <a:accent1>
          <a:srgbClr val="33CCCC"/>
        </a:accent1>
        <a:accent2>
          <a:srgbClr val="004E4C"/>
        </a:accent2>
        <a:accent3>
          <a:srgbClr val="D0CFC7"/>
        </a:accent3>
        <a:accent4>
          <a:srgbClr val="DADADA"/>
        </a:accent4>
        <a:accent5>
          <a:srgbClr val="ADE2E2"/>
        </a:accent5>
        <a:accent6>
          <a:srgbClr val="004644"/>
        </a:accent6>
        <a:hlink>
          <a:srgbClr val="477781"/>
        </a:hlink>
        <a:folHlink>
          <a:srgbClr val="85CC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untain Top 9">
        <a:dk1>
          <a:srgbClr val="000000"/>
        </a:dk1>
        <a:lt1>
          <a:srgbClr val="FFFFFF"/>
        </a:lt1>
        <a:dk2>
          <a:srgbClr val="FFFFAF"/>
        </a:dk2>
        <a:lt2>
          <a:srgbClr val="676597"/>
        </a:lt2>
        <a:accent1>
          <a:srgbClr val="66CCFF"/>
        </a:accent1>
        <a:accent2>
          <a:srgbClr val="CCEC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B9D6E7"/>
        </a:accent6>
        <a:hlink>
          <a:srgbClr val="6600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Mountain Top</Template>
  <TotalTime>2340</TotalTime>
  <Words>380</Words>
  <Application>Microsoft Office PowerPoint</Application>
  <PresentationFormat>Presentación en pantalla (4:3)</PresentationFormat>
  <Paragraphs>148</Paragraphs>
  <Slides>18</Slides>
  <Notes>18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Mountain Top</vt:lpstr>
      <vt:lpstr>Medidas adoptadas en la reforma energética, escenarios e implicaciones previsibles </vt:lpstr>
      <vt:lpstr>Alcance</vt:lpstr>
      <vt:lpstr>Alcance</vt:lpstr>
      <vt:lpstr>Alcance</vt:lpstr>
      <vt:lpstr>Alcance</vt:lpstr>
      <vt:lpstr>Alcance</vt:lpstr>
      <vt:lpstr>Alcance</vt:lpstr>
      <vt:lpstr>Gracias!</vt:lpstr>
      <vt:lpstr>Alternativas para reducir emisiones de CO2</vt:lpstr>
      <vt:lpstr>Diapositiva 10</vt:lpstr>
      <vt:lpstr>Alternativas para reducir emisiones de CO2</vt:lpstr>
      <vt:lpstr>Reservas probadas de gas natural en trillones de m3 </vt:lpstr>
      <vt:lpstr> Carbón (incl. Antracita, carbón bituminoso, subituminoso y lignito)  </vt:lpstr>
      <vt:lpstr>Tendencias recientes </vt:lpstr>
      <vt:lpstr>Las orientaciones estratégicas de China (1)</vt:lpstr>
      <vt:lpstr>Las orientaciones estratégicas de China (2)</vt:lpstr>
      <vt:lpstr>Medidas anteriores a esas orientaciones estratégicas de China</vt:lpstr>
      <vt:lpstr>Tecnologías y recursos para la generación de electricidad a mediano plazo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Dr Reinking</dc:creator>
  <cp:lastModifiedBy>Reinking</cp:lastModifiedBy>
  <cp:revision>117</cp:revision>
  <cp:lastPrinted>1601-01-01T00:00:00Z</cp:lastPrinted>
  <dcterms:created xsi:type="dcterms:W3CDTF">2007-03-01T16:30:48Z</dcterms:created>
  <dcterms:modified xsi:type="dcterms:W3CDTF">2016-04-07T14:15:55Z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8</vt:i4>
  </property>
</Properties>
</file>